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73" r:id="rId7"/>
    <p:sldId id="261" r:id="rId8"/>
    <p:sldId id="272" r:id="rId9"/>
    <p:sldId id="275" r:id="rId10"/>
    <p:sldId id="274" r:id="rId11"/>
    <p:sldId id="271" r:id="rId12"/>
    <p:sldId id="264" r:id="rId13"/>
    <p:sldId id="266" r:id="rId14"/>
    <p:sldId id="267" r:id="rId15"/>
    <p:sldId id="268" r:id="rId16"/>
    <p:sldId id="269"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FCE397-8343-4572-9E2E-741949ACE741}" v="16" dt="2026-03-06T16:48:22.6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mela Odurukwe" userId="1f73b30c8a64014c" providerId="LiveId" clId="{C8181836-A6CE-462B-BADC-48485FE1A5AE}"/>
    <pc:docChg chg="undo custSel addSld delSld modSld sldOrd">
      <pc:chgData name="Pamela Odurukwe" userId="1f73b30c8a64014c" providerId="LiveId" clId="{C8181836-A6CE-462B-BADC-48485FE1A5AE}" dt="2026-03-06T16:57:52.234" v="507" actId="20577"/>
      <pc:docMkLst>
        <pc:docMk/>
      </pc:docMkLst>
      <pc:sldChg chg="addSp modSp mod">
        <pc:chgData name="Pamela Odurukwe" userId="1f73b30c8a64014c" providerId="LiveId" clId="{C8181836-A6CE-462B-BADC-48485FE1A5AE}" dt="2026-03-06T16:48:25.774" v="501" actId="14100"/>
        <pc:sldMkLst>
          <pc:docMk/>
          <pc:sldMk cId="3222678465" sldId="257"/>
        </pc:sldMkLst>
        <pc:spChg chg="add mod">
          <ac:chgData name="Pamela Odurukwe" userId="1f73b30c8a64014c" providerId="LiveId" clId="{C8181836-A6CE-462B-BADC-48485FE1A5AE}" dt="2026-03-06T16:48:25.774" v="501" actId="14100"/>
          <ac:spMkLst>
            <pc:docMk/>
            <pc:sldMk cId="3222678465" sldId="257"/>
            <ac:spMk id="3" creationId="{AA3B7ACD-8545-3572-8EE4-CA4310844559}"/>
          </ac:spMkLst>
        </pc:spChg>
        <pc:spChg chg="mod">
          <ac:chgData name="Pamela Odurukwe" userId="1f73b30c8a64014c" providerId="LiveId" clId="{C8181836-A6CE-462B-BADC-48485FE1A5AE}" dt="2026-03-06T16:47:21.345" v="478" actId="1076"/>
          <ac:spMkLst>
            <pc:docMk/>
            <pc:sldMk cId="3222678465" sldId="257"/>
            <ac:spMk id="5" creationId="{28DE172B-41BE-D6AA-DCD9-165E99854422}"/>
          </ac:spMkLst>
        </pc:spChg>
      </pc:sldChg>
      <pc:sldChg chg="modSp mod">
        <pc:chgData name="Pamela Odurukwe" userId="1f73b30c8a64014c" providerId="LiveId" clId="{C8181836-A6CE-462B-BADC-48485FE1A5AE}" dt="2026-03-06T16:43:18.865" v="474" actId="27636"/>
        <pc:sldMkLst>
          <pc:docMk/>
          <pc:sldMk cId="1237870218" sldId="258"/>
        </pc:sldMkLst>
        <pc:spChg chg="mod">
          <ac:chgData name="Pamela Odurukwe" userId="1f73b30c8a64014c" providerId="LiveId" clId="{C8181836-A6CE-462B-BADC-48485FE1A5AE}" dt="2026-03-06T16:43:18.865" v="474" actId="27636"/>
          <ac:spMkLst>
            <pc:docMk/>
            <pc:sldMk cId="1237870218" sldId="258"/>
            <ac:spMk id="5" creationId="{F6FB7388-2A68-7337-312F-DC8CF086ECB5}"/>
          </ac:spMkLst>
        </pc:spChg>
      </pc:sldChg>
      <pc:sldChg chg="addSp delSp modSp mod setBg">
        <pc:chgData name="Pamela Odurukwe" userId="1f73b30c8a64014c" providerId="LiveId" clId="{C8181836-A6CE-462B-BADC-48485FE1A5AE}" dt="2026-03-06T16:44:12.667" v="476" actId="26606"/>
        <pc:sldMkLst>
          <pc:docMk/>
          <pc:sldMk cId="1606372222" sldId="259"/>
        </pc:sldMkLst>
        <pc:spChg chg="mod">
          <ac:chgData name="Pamela Odurukwe" userId="1f73b30c8a64014c" providerId="LiveId" clId="{C8181836-A6CE-462B-BADC-48485FE1A5AE}" dt="2026-03-06T16:44:12.667" v="476" actId="26606"/>
          <ac:spMkLst>
            <pc:docMk/>
            <pc:sldMk cId="1606372222" sldId="259"/>
            <ac:spMk id="2" creationId="{C5AE2F2C-6F79-336F-BE26-465CD848DBA0}"/>
          </ac:spMkLst>
        </pc:spChg>
        <pc:spChg chg="mod">
          <ac:chgData name="Pamela Odurukwe" userId="1f73b30c8a64014c" providerId="LiveId" clId="{C8181836-A6CE-462B-BADC-48485FE1A5AE}" dt="2026-03-06T16:44:12.667" v="476" actId="26606"/>
          <ac:spMkLst>
            <pc:docMk/>
            <pc:sldMk cId="1606372222" sldId="259"/>
            <ac:spMk id="5" creationId="{CB17537D-F69B-C8CD-8ED1-0BAA20215EB8}"/>
          </ac:spMkLst>
        </pc:spChg>
        <pc:spChg chg="add del">
          <ac:chgData name="Pamela Odurukwe" userId="1f73b30c8a64014c" providerId="LiveId" clId="{C8181836-A6CE-462B-BADC-48485FE1A5AE}" dt="2026-03-06T16:44:12.667" v="476" actId="26606"/>
          <ac:spMkLst>
            <pc:docMk/>
            <pc:sldMk cId="1606372222" sldId="259"/>
            <ac:spMk id="11" creationId="{5B6D324E-2D03-4162-AF1E-D5E32234E254}"/>
          </ac:spMkLst>
        </pc:spChg>
        <pc:picChg chg="add del">
          <ac:chgData name="Pamela Odurukwe" userId="1f73b30c8a64014c" providerId="LiveId" clId="{C8181836-A6CE-462B-BADC-48485FE1A5AE}" dt="2026-03-06T16:44:12.667" v="476" actId="26606"/>
          <ac:picMkLst>
            <pc:docMk/>
            <pc:sldMk cId="1606372222" sldId="259"/>
            <ac:picMk id="7" creationId="{B9B59526-123A-7A9E-1164-7E4A3ED8F405}"/>
          </ac:picMkLst>
        </pc:picChg>
      </pc:sldChg>
      <pc:sldChg chg="modSp mod">
        <pc:chgData name="Pamela Odurukwe" userId="1f73b30c8a64014c" providerId="LiveId" clId="{C8181836-A6CE-462B-BADC-48485FE1A5AE}" dt="2026-03-06T16:57:52.234" v="507" actId="20577"/>
        <pc:sldMkLst>
          <pc:docMk/>
          <pc:sldMk cId="3273264720" sldId="260"/>
        </pc:sldMkLst>
        <pc:spChg chg="mod">
          <ac:chgData name="Pamela Odurukwe" userId="1f73b30c8a64014c" providerId="LiveId" clId="{C8181836-A6CE-462B-BADC-48485FE1A5AE}" dt="2026-03-06T16:57:52.234" v="507" actId="20577"/>
          <ac:spMkLst>
            <pc:docMk/>
            <pc:sldMk cId="3273264720" sldId="260"/>
            <ac:spMk id="5" creationId="{D150388A-5CE9-B5AB-61AA-6B4E7A56B108}"/>
          </ac:spMkLst>
        </pc:spChg>
      </pc:sldChg>
      <pc:sldChg chg="addSp modSp mod">
        <pc:chgData name="Pamela Odurukwe" userId="1f73b30c8a64014c" providerId="LiveId" clId="{C8181836-A6CE-462B-BADC-48485FE1A5AE}" dt="2026-03-06T16:01:46.649" v="205" actId="1076"/>
        <pc:sldMkLst>
          <pc:docMk/>
          <pc:sldMk cId="3840581491" sldId="264"/>
        </pc:sldMkLst>
        <pc:picChg chg="add mod">
          <ac:chgData name="Pamela Odurukwe" userId="1f73b30c8a64014c" providerId="LiveId" clId="{C8181836-A6CE-462B-BADC-48485FE1A5AE}" dt="2026-03-06T16:01:46.649" v="205" actId="1076"/>
          <ac:picMkLst>
            <pc:docMk/>
            <pc:sldMk cId="3840581491" sldId="264"/>
            <ac:picMk id="4" creationId="{2ED8E0C0-E0CD-FDD6-3FC6-492DAD7ABB4A}"/>
          </ac:picMkLst>
        </pc:picChg>
      </pc:sldChg>
      <pc:sldChg chg="addSp modSp mod">
        <pc:chgData name="Pamela Odurukwe" userId="1f73b30c8a64014c" providerId="LiveId" clId="{C8181836-A6CE-462B-BADC-48485FE1A5AE}" dt="2026-03-06T16:11:47.776" v="357" actId="207"/>
        <pc:sldMkLst>
          <pc:docMk/>
          <pc:sldMk cId="1851570649" sldId="266"/>
        </pc:sldMkLst>
        <pc:spChg chg="add mod">
          <ac:chgData name="Pamela Odurukwe" userId="1f73b30c8a64014c" providerId="LiveId" clId="{C8181836-A6CE-462B-BADC-48485FE1A5AE}" dt="2026-03-06T16:11:35.476" v="354" actId="207"/>
          <ac:spMkLst>
            <pc:docMk/>
            <pc:sldMk cId="1851570649" sldId="266"/>
            <ac:spMk id="3" creationId="{555508C6-DF65-A652-E564-77B59C68531D}"/>
          </ac:spMkLst>
        </pc:spChg>
        <pc:spChg chg="add mod">
          <ac:chgData name="Pamela Odurukwe" userId="1f73b30c8a64014c" providerId="LiveId" clId="{C8181836-A6CE-462B-BADC-48485FE1A5AE}" dt="2026-03-06T16:11:39.220" v="355" actId="207"/>
          <ac:spMkLst>
            <pc:docMk/>
            <pc:sldMk cId="1851570649" sldId="266"/>
            <ac:spMk id="4" creationId="{1DC5CB37-CE7E-47C0-68C5-1AC618030797}"/>
          </ac:spMkLst>
        </pc:spChg>
        <pc:spChg chg="mod">
          <ac:chgData name="Pamela Odurukwe" userId="1f73b30c8a64014c" providerId="LiveId" clId="{C8181836-A6CE-462B-BADC-48485FE1A5AE}" dt="2026-03-06T16:11:32.148" v="353" actId="207"/>
          <ac:spMkLst>
            <pc:docMk/>
            <pc:sldMk cId="1851570649" sldId="266"/>
            <ac:spMk id="5" creationId="{AF07D96A-BD94-8E84-9F62-E8EE437998CB}"/>
          </ac:spMkLst>
        </pc:spChg>
        <pc:spChg chg="add mod">
          <ac:chgData name="Pamela Odurukwe" userId="1f73b30c8a64014c" providerId="LiveId" clId="{C8181836-A6CE-462B-BADC-48485FE1A5AE}" dt="2026-03-06T16:11:47.776" v="357" actId="207"/>
          <ac:spMkLst>
            <pc:docMk/>
            <pc:sldMk cId="1851570649" sldId="266"/>
            <ac:spMk id="6" creationId="{2183252D-E3E1-7BBE-918D-FCADE9A8987B}"/>
          </ac:spMkLst>
        </pc:spChg>
        <pc:spChg chg="add mod">
          <ac:chgData name="Pamela Odurukwe" userId="1f73b30c8a64014c" providerId="LiveId" clId="{C8181836-A6CE-462B-BADC-48485FE1A5AE}" dt="2026-03-06T16:11:44.241" v="356" actId="207"/>
          <ac:spMkLst>
            <pc:docMk/>
            <pc:sldMk cId="1851570649" sldId="266"/>
            <ac:spMk id="7" creationId="{C8883A54-6D54-E3C3-F70A-9CBDD42472B5}"/>
          </ac:spMkLst>
        </pc:spChg>
      </pc:sldChg>
      <pc:sldChg chg="addSp modSp mod">
        <pc:chgData name="Pamela Odurukwe" userId="1f73b30c8a64014c" providerId="LiveId" clId="{C8181836-A6CE-462B-BADC-48485FE1A5AE}" dt="2026-03-06T16:11:27.031" v="352" actId="207"/>
        <pc:sldMkLst>
          <pc:docMk/>
          <pc:sldMk cId="4070863868" sldId="267"/>
        </pc:sldMkLst>
        <pc:spChg chg="add mod">
          <ac:chgData name="Pamela Odurukwe" userId="1f73b30c8a64014c" providerId="LiveId" clId="{C8181836-A6CE-462B-BADC-48485FE1A5AE}" dt="2026-03-06T16:11:21.098" v="350" actId="207"/>
          <ac:spMkLst>
            <pc:docMk/>
            <pc:sldMk cId="4070863868" sldId="267"/>
            <ac:spMk id="3" creationId="{23EF73EF-8FB8-ED7A-8738-9E3E629472A1}"/>
          </ac:spMkLst>
        </pc:spChg>
        <pc:spChg chg="add mod">
          <ac:chgData name="Pamela Odurukwe" userId="1f73b30c8a64014c" providerId="LiveId" clId="{C8181836-A6CE-462B-BADC-48485FE1A5AE}" dt="2026-03-06T16:11:24.107" v="351" actId="207"/>
          <ac:spMkLst>
            <pc:docMk/>
            <pc:sldMk cId="4070863868" sldId="267"/>
            <ac:spMk id="4" creationId="{BB3E3C31-E138-BE86-6850-2BE90DA6E46C}"/>
          </ac:spMkLst>
        </pc:spChg>
        <pc:spChg chg="mod">
          <ac:chgData name="Pamela Odurukwe" userId="1f73b30c8a64014c" providerId="LiveId" clId="{C8181836-A6CE-462B-BADC-48485FE1A5AE}" dt="2026-03-06T16:11:17.560" v="349" actId="207"/>
          <ac:spMkLst>
            <pc:docMk/>
            <pc:sldMk cId="4070863868" sldId="267"/>
            <ac:spMk id="5" creationId="{B206CDE3-F9DB-70D7-D8AF-02CD2DE6AD22}"/>
          </ac:spMkLst>
        </pc:spChg>
        <pc:spChg chg="add mod">
          <ac:chgData name="Pamela Odurukwe" userId="1f73b30c8a64014c" providerId="LiveId" clId="{C8181836-A6CE-462B-BADC-48485FE1A5AE}" dt="2026-03-06T16:11:27.031" v="352" actId="207"/>
          <ac:spMkLst>
            <pc:docMk/>
            <pc:sldMk cId="4070863868" sldId="267"/>
            <ac:spMk id="6" creationId="{26BDE303-149B-D0CE-1818-34D4178C58C7}"/>
          </ac:spMkLst>
        </pc:spChg>
      </pc:sldChg>
      <pc:sldChg chg="modSp mod">
        <pc:chgData name="Pamela Odurukwe" userId="1f73b30c8a64014c" providerId="LiveId" clId="{C8181836-A6CE-462B-BADC-48485FE1A5AE}" dt="2026-03-06T16:10:53.058" v="346" actId="207"/>
        <pc:sldMkLst>
          <pc:docMk/>
          <pc:sldMk cId="1107812166" sldId="268"/>
        </pc:sldMkLst>
        <pc:spChg chg="mod">
          <ac:chgData name="Pamela Odurukwe" userId="1f73b30c8a64014c" providerId="LiveId" clId="{C8181836-A6CE-462B-BADC-48485FE1A5AE}" dt="2026-03-06T16:10:53.058" v="346" actId="207"/>
          <ac:spMkLst>
            <pc:docMk/>
            <pc:sldMk cId="1107812166" sldId="268"/>
            <ac:spMk id="5" creationId="{F8ACB3E9-A904-04F0-A819-0C057DD03C7A}"/>
          </ac:spMkLst>
        </pc:spChg>
      </pc:sldChg>
      <pc:sldChg chg="modSp mod">
        <pc:chgData name="Pamela Odurukwe" userId="1f73b30c8a64014c" providerId="LiveId" clId="{C8181836-A6CE-462B-BADC-48485FE1A5AE}" dt="2026-03-06T16:11:00.214" v="348" actId="207"/>
        <pc:sldMkLst>
          <pc:docMk/>
          <pc:sldMk cId="2642535025" sldId="269"/>
        </pc:sldMkLst>
        <pc:spChg chg="mod">
          <ac:chgData name="Pamela Odurukwe" userId="1f73b30c8a64014c" providerId="LiveId" clId="{C8181836-A6CE-462B-BADC-48485FE1A5AE}" dt="2026-03-06T16:11:00.214" v="348" actId="207"/>
          <ac:spMkLst>
            <pc:docMk/>
            <pc:sldMk cId="2642535025" sldId="269"/>
            <ac:spMk id="5" creationId="{4908DC80-8097-2C7D-1CCD-6CA61A455142}"/>
          </ac:spMkLst>
        </pc:spChg>
      </pc:sldChg>
      <pc:sldChg chg="modSp mod">
        <pc:chgData name="Pamela Odurukwe" userId="1f73b30c8a64014c" providerId="LiveId" clId="{C8181836-A6CE-462B-BADC-48485FE1A5AE}" dt="2026-03-06T15:59:30.075" v="200" actId="1076"/>
        <pc:sldMkLst>
          <pc:docMk/>
          <pc:sldMk cId="748453938" sldId="271"/>
        </pc:sldMkLst>
        <pc:spChg chg="mod">
          <ac:chgData name="Pamela Odurukwe" userId="1f73b30c8a64014c" providerId="LiveId" clId="{C8181836-A6CE-462B-BADC-48485FE1A5AE}" dt="2026-03-06T15:59:30.075" v="200" actId="1076"/>
          <ac:spMkLst>
            <pc:docMk/>
            <pc:sldMk cId="748453938" sldId="271"/>
            <ac:spMk id="9" creationId="{9A7370C5-089B-5E94-7821-99547B320445}"/>
          </ac:spMkLst>
        </pc:spChg>
      </pc:sldChg>
      <pc:sldChg chg="addSp delSp modSp mod">
        <pc:chgData name="Pamela Odurukwe" userId="1f73b30c8a64014c" providerId="LiveId" clId="{C8181836-A6CE-462B-BADC-48485FE1A5AE}" dt="2026-03-06T16:31:01.005" v="400" actId="1076"/>
        <pc:sldMkLst>
          <pc:docMk/>
          <pc:sldMk cId="477538477" sldId="272"/>
        </pc:sldMkLst>
        <pc:spChg chg="mod">
          <ac:chgData name="Pamela Odurukwe" userId="1f73b30c8a64014c" providerId="LiveId" clId="{C8181836-A6CE-462B-BADC-48485FE1A5AE}" dt="2026-03-06T16:30:58.276" v="399" actId="1076"/>
          <ac:spMkLst>
            <pc:docMk/>
            <pc:sldMk cId="477538477" sldId="272"/>
            <ac:spMk id="6" creationId="{370B51C2-721B-DE37-ABAB-543A9D37D50D}"/>
          </ac:spMkLst>
        </pc:spChg>
        <pc:picChg chg="mod">
          <ac:chgData name="Pamela Odurukwe" userId="1f73b30c8a64014c" providerId="LiveId" clId="{C8181836-A6CE-462B-BADC-48485FE1A5AE}" dt="2026-03-06T16:31:01.005" v="400" actId="1076"/>
          <ac:picMkLst>
            <pc:docMk/>
            <pc:sldMk cId="477538477" sldId="272"/>
            <ac:picMk id="5" creationId="{3032DB23-2EC5-393B-B3C9-5A2A7842E9DA}"/>
          </ac:picMkLst>
        </pc:picChg>
        <pc:picChg chg="add del mod">
          <ac:chgData name="Pamela Odurukwe" userId="1f73b30c8a64014c" providerId="LiveId" clId="{C8181836-A6CE-462B-BADC-48485FE1A5AE}" dt="2026-03-06T16:29:03.623" v="385" actId="478"/>
          <ac:picMkLst>
            <pc:docMk/>
            <pc:sldMk cId="477538477" sldId="272"/>
            <ac:picMk id="7" creationId="{C44B8C88-56F3-5AB4-99B5-4BCA1833E9DE}"/>
          </ac:picMkLst>
        </pc:picChg>
        <pc:picChg chg="add del">
          <ac:chgData name="Pamela Odurukwe" userId="1f73b30c8a64014c" providerId="LiveId" clId="{C8181836-A6CE-462B-BADC-48485FE1A5AE}" dt="2026-03-06T16:29:01.914" v="384" actId="478"/>
          <ac:picMkLst>
            <pc:docMk/>
            <pc:sldMk cId="477538477" sldId="272"/>
            <ac:picMk id="9" creationId="{2F2B96B0-ECF2-3EB6-406B-62019DB8A6CC}"/>
          </ac:picMkLst>
        </pc:picChg>
      </pc:sldChg>
      <pc:sldChg chg="addSp delSp modSp new mod">
        <pc:chgData name="Pamela Odurukwe" userId="1f73b30c8a64014c" providerId="LiveId" clId="{C8181836-A6CE-462B-BADC-48485FE1A5AE}" dt="2026-03-06T15:58:54.879" v="199" actId="14100"/>
        <pc:sldMkLst>
          <pc:docMk/>
          <pc:sldMk cId="3080891856" sldId="273"/>
        </pc:sldMkLst>
        <pc:spChg chg="del">
          <ac:chgData name="Pamela Odurukwe" userId="1f73b30c8a64014c" providerId="LiveId" clId="{C8181836-A6CE-462B-BADC-48485FE1A5AE}" dt="2026-03-06T15:54:31.820" v="15" actId="478"/>
          <ac:spMkLst>
            <pc:docMk/>
            <pc:sldMk cId="3080891856" sldId="273"/>
            <ac:spMk id="2" creationId="{89779AFC-798B-CD47-64FA-F71F66FBBFDE}"/>
          </ac:spMkLst>
        </pc:spChg>
        <pc:spChg chg="del mod">
          <ac:chgData name="Pamela Odurukwe" userId="1f73b30c8a64014c" providerId="LiveId" clId="{C8181836-A6CE-462B-BADC-48485FE1A5AE}" dt="2026-03-06T15:55:06.435" v="21" actId="1032"/>
          <ac:spMkLst>
            <pc:docMk/>
            <pc:sldMk cId="3080891856" sldId="273"/>
            <ac:spMk id="3" creationId="{1802CABF-E6BA-D592-1E86-FB3902F08CBB}"/>
          </ac:spMkLst>
        </pc:spChg>
        <pc:spChg chg="add mod">
          <ac:chgData name="Pamela Odurukwe" userId="1f73b30c8a64014c" providerId="LiveId" clId="{C8181836-A6CE-462B-BADC-48485FE1A5AE}" dt="2026-03-06T15:54:52.248" v="19"/>
          <ac:spMkLst>
            <pc:docMk/>
            <pc:sldMk cId="3080891856" sldId="273"/>
            <ac:spMk id="4" creationId="{B1258028-7863-62AD-A8E1-480E36F3766C}"/>
          </ac:spMkLst>
        </pc:spChg>
        <pc:spChg chg="add mod">
          <ac:chgData name="Pamela Odurukwe" userId="1f73b30c8a64014c" providerId="LiveId" clId="{C8181836-A6CE-462B-BADC-48485FE1A5AE}" dt="2026-03-06T15:57:53.327" v="190" actId="20577"/>
          <ac:spMkLst>
            <pc:docMk/>
            <pc:sldMk cId="3080891856" sldId="273"/>
            <ac:spMk id="7" creationId="{99943602-5E62-BD95-ECB3-B684C21E472B}"/>
          </ac:spMkLst>
        </pc:spChg>
        <pc:spChg chg="add mod">
          <ac:chgData name="Pamela Odurukwe" userId="1f73b30c8a64014c" providerId="LiveId" clId="{C8181836-A6CE-462B-BADC-48485FE1A5AE}" dt="2026-03-06T15:57:58.020" v="194" actId="20577"/>
          <ac:spMkLst>
            <pc:docMk/>
            <pc:sldMk cId="3080891856" sldId="273"/>
            <ac:spMk id="8" creationId="{15335BA2-A022-9949-5FC2-3DF0034D03C5}"/>
          </ac:spMkLst>
        </pc:spChg>
        <pc:spChg chg="add mod">
          <ac:chgData name="Pamela Odurukwe" userId="1f73b30c8a64014c" providerId="LiveId" clId="{C8181836-A6CE-462B-BADC-48485FE1A5AE}" dt="2026-03-06T15:58:12.313" v="195" actId="1076"/>
          <ac:spMkLst>
            <pc:docMk/>
            <pc:sldMk cId="3080891856" sldId="273"/>
            <ac:spMk id="9" creationId="{6E8F79CC-F637-323B-64EC-DF317156257B}"/>
          </ac:spMkLst>
        </pc:spChg>
        <pc:graphicFrameChg chg="add del modGraphic">
          <ac:chgData name="Pamela Odurukwe" userId="1f73b30c8a64014c" providerId="LiveId" clId="{C8181836-A6CE-462B-BADC-48485FE1A5AE}" dt="2026-03-06T15:55:11.694" v="22" actId="478"/>
          <ac:graphicFrameMkLst>
            <pc:docMk/>
            <pc:sldMk cId="3080891856" sldId="273"/>
            <ac:graphicFrameMk id="5" creationId="{F5455C9C-B09C-2A1F-B025-DAC7E8954410}"/>
          </ac:graphicFrameMkLst>
        </pc:graphicFrameChg>
        <pc:cxnChg chg="add mod">
          <ac:chgData name="Pamela Odurukwe" userId="1f73b30c8a64014c" providerId="LiveId" clId="{C8181836-A6CE-462B-BADC-48485FE1A5AE}" dt="2026-03-06T15:58:54.879" v="199" actId="14100"/>
          <ac:cxnSpMkLst>
            <pc:docMk/>
            <pc:sldMk cId="3080891856" sldId="273"/>
            <ac:cxnSpMk id="11" creationId="{723045FD-1F76-C29D-7E4F-5C9CD5B6175A}"/>
          </ac:cxnSpMkLst>
        </pc:cxnChg>
        <pc:cxnChg chg="add mod">
          <ac:chgData name="Pamela Odurukwe" userId="1f73b30c8a64014c" providerId="LiveId" clId="{C8181836-A6CE-462B-BADC-48485FE1A5AE}" dt="2026-03-06T15:58:50.219" v="198" actId="14100"/>
          <ac:cxnSpMkLst>
            <pc:docMk/>
            <pc:sldMk cId="3080891856" sldId="273"/>
            <ac:cxnSpMk id="13" creationId="{41ADBA5B-51D3-4FE2-4581-A2665C1608F8}"/>
          </ac:cxnSpMkLst>
        </pc:cxnChg>
      </pc:sldChg>
      <pc:sldChg chg="new del">
        <pc:chgData name="Pamela Odurukwe" userId="1f73b30c8a64014c" providerId="LiveId" clId="{C8181836-A6CE-462B-BADC-48485FE1A5AE}" dt="2026-03-06T16:25:20.674" v="363" actId="47"/>
        <pc:sldMkLst>
          <pc:docMk/>
          <pc:sldMk cId="1410985854" sldId="274"/>
        </pc:sldMkLst>
      </pc:sldChg>
      <pc:sldChg chg="addSp delSp modSp add mod ord">
        <pc:chgData name="Pamela Odurukwe" userId="1f73b30c8a64014c" providerId="LiveId" clId="{C8181836-A6CE-462B-BADC-48485FE1A5AE}" dt="2026-03-06T16:30:17.456" v="392"/>
        <pc:sldMkLst>
          <pc:docMk/>
          <pc:sldMk cId="2067985336" sldId="274"/>
        </pc:sldMkLst>
        <pc:spChg chg="del">
          <ac:chgData name="Pamela Odurukwe" userId="1f73b30c8a64014c" providerId="LiveId" clId="{C8181836-A6CE-462B-BADC-48485FE1A5AE}" dt="2026-03-06T16:25:29.243" v="365" actId="478"/>
          <ac:spMkLst>
            <pc:docMk/>
            <pc:sldMk cId="2067985336" sldId="274"/>
            <ac:spMk id="6" creationId="{5FBBF10C-6F6A-26E1-F090-0A4B8A88851A}"/>
          </ac:spMkLst>
        </pc:spChg>
        <pc:picChg chg="del">
          <ac:chgData name="Pamela Odurukwe" userId="1f73b30c8a64014c" providerId="LiveId" clId="{C8181836-A6CE-462B-BADC-48485FE1A5AE}" dt="2026-03-06T16:25:40.524" v="368" actId="478"/>
          <ac:picMkLst>
            <pc:docMk/>
            <pc:sldMk cId="2067985336" sldId="274"/>
            <ac:picMk id="5" creationId="{B46742BE-EB20-93BF-E3F3-BC7F337532A8}"/>
          </ac:picMkLst>
        </pc:picChg>
        <pc:picChg chg="mod">
          <ac:chgData name="Pamela Odurukwe" userId="1f73b30c8a64014c" providerId="LiveId" clId="{C8181836-A6CE-462B-BADC-48485FE1A5AE}" dt="2026-03-06T16:27:04.161" v="382" actId="1076"/>
          <ac:picMkLst>
            <pc:docMk/>
            <pc:sldMk cId="2067985336" sldId="274"/>
            <ac:picMk id="7" creationId="{AF15ED81-85EC-1900-1FE9-6137D83EFF97}"/>
          </ac:picMkLst>
        </pc:picChg>
        <pc:picChg chg="add mod">
          <ac:chgData name="Pamela Odurukwe" userId="1f73b30c8a64014c" providerId="LiveId" clId="{C8181836-A6CE-462B-BADC-48485FE1A5AE}" dt="2026-03-06T16:27:06.359" v="383" actId="14100"/>
          <ac:picMkLst>
            <pc:docMk/>
            <pc:sldMk cId="2067985336" sldId="274"/>
            <ac:picMk id="8" creationId="{938F99A0-F05B-52B1-913A-07F6E03737D0}"/>
          </ac:picMkLst>
        </pc:picChg>
        <pc:picChg chg="mod">
          <ac:chgData name="Pamela Odurukwe" userId="1f73b30c8a64014c" providerId="LiveId" clId="{C8181836-A6CE-462B-BADC-48485FE1A5AE}" dt="2026-03-06T16:27:01.707" v="381" actId="1076"/>
          <ac:picMkLst>
            <pc:docMk/>
            <pc:sldMk cId="2067985336" sldId="274"/>
            <ac:picMk id="9" creationId="{FEFFEEA7-18EF-2371-4ECA-FB318D41370B}"/>
          </ac:picMkLst>
        </pc:picChg>
      </pc:sldChg>
      <pc:sldChg chg="addSp delSp modSp add mod ord">
        <pc:chgData name="Pamela Odurukwe" userId="1f73b30c8a64014c" providerId="LiveId" clId="{C8181836-A6CE-462B-BADC-48485FE1A5AE}" dt="2026-03-06T16:36:44.729" v="422" actId="1076"/>
        <pc:sldMkLst>
          <pc:docMk/>
          <pc:sldMk cId="1240713940" sldId="275"/>
        </pc:sldMkLst>
        <pc:spChg chg="del">
          <ac:chgData name="Pamela Odurukwe" userId="1f73b30c8a64014c" providerId="LiveId" clId="{C8181836-A6CE-462B-BADC-48485FE1A5AE}" dt="2026-03-06T16:30:12.523" v="390" actId="478"/>
          <ac:spMkLst>
            <pc:docMk/>
            <pc:sldMk cId="1240713940" sldId="275"/>
            <ac:spMk id="6" creationId="{567E5384-D6AA-CD36-D5B5-0E5DBC632E02}"/>
          </ac:spMkLst>
        </pc:spChg>
        <pc:picChg chg="del">
          <ac:chgData name="Pamela Odurukwe" userId="1f73b30c8a64014c" providerId="LiveId" clId="{C8181836-A6CE-462B-BADC-48485FE1A5AE}" dt="2026-03-06T16:29:33.283" v="387" actId="478"/>
          <ac:picMkLst>
            <pc:docMk/>
            <pc:sldMk cId="1240713940" sldId="275"/>
            <ac:picMk id="5" creationId="{CF31C0A4-6BC0-DE30-90AF-992C8B671335}"/>
          </ac:picMkLst>
        </pc:picChg>
        <pc:picChg chg="add mod">
          <ac:chgData name="Pamela Odurukwe" userId="1f73b30c8a64014c" providerId="LiveId" clId="{C8181836-A6CE-462B-BADC-48485FE1A5AE}" dt="2026-03-06T16:36:31.694" v="419" actId="1076"/>
          <ac:picMkLst>
            <pc:docMk/>
            <pc:sldMk cId="1240713940" sldId="275"/>
            <ac:picMk id="7" creationId="{D0D63D52-BB08-812F-A93A-8D7DD46836F8}"/>
          </ac:picMkLst>
        </pc:picChg>
        <pc:picChg chg="add mod">
          <ac:chgData name="Pamela Odurukwe" userId="1f73b30c8a64014c" providerId="LiveId" clId="{C8181836-A6CE-462B-BADC-48485FE1A5AE}" dt="2026-03-06T16:36:29.081" v="418" actId="1076"/>
          <ac:picMkLst>
            <pc:docMk/>
            <pc:sldMk cId="1240713940" sldId="275"/>
            <ac:picMk id="8" creationId="{4B628774-6A32-7CAE-8F59-DC224DA07CDF}"/>
          </ac:picMkLst>
        </pc:picChg>
        <pc:picChg chg="add mod">
          <ac:chgData name="Pamela Odurukwe" userId="1f73b30c8a64014c" providerId="LiveId" clId="{C8181836-A6CE-462B-BADC-48485FE1A5AE}" dt="2026-03-06T16:36:33.856" v="420" actId="1076"/>
          <ac:picMkLst>
            <pc:docMk/>
            <pc:sldMk cId="1240713940" sldId="275"/>
            <ac:picMk id="10" creationId="{21290526-19F7-0976-0826-38E6D4A14BFA}"/>
          </ac:picMkLst>
        </pc:picChg>
        <pc:picChg chg="add mod">
          <ac:chgData name="Pamela Odurukwe" userId="1f73b30c8a64014c" providerId="LiveId" clId="{C8181836-A6CE-462B-BADC-48485FE1A5AE}" dt="2026-03-06T16:36:37.219" v="421" actId="1076"/>
          <ac:picMkLst>
            <pc:docMk/>
            <pc:sldMk cId="1240713940" sldId="275"/>
            <ac:picMk id="12" creationId="{94F23F61-5D75-5288-2E90-54AA04DC4C07}"/>
          </ac:picMkLst>
        </pc:picChg>
        <pc:picChg chg="add mod">
          <ac:chgData name="Pamela Odurukwe" userId="1f73b30c8a64014c" providerId="LiveId" clId="{C8181836-A6CE-462B-BADC-48485FE1A5AE}" dt="2026-03-06T16:36:44.729" v="422" actId="1076"/>
          <ac:picMkLst>
            <pc:docMk/>
            <pc:sldMk cId="1240713940" sldId="275"/>
            <ac:picMk id="14" creationId="{289A5B27-0A4D-5852-F824-C5894A958EA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GB"/>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6900799C-3602-4320-82C9-FBB3A6F71E8B}" type="datetimeFigureOut">
              <a:rPr lang="en-GB" smtClean="0"/>
              <a:t>06/03/2026</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5C1BA22-D3F9-4F47-96D4-BF8640C0EA59}"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61733570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900799C-3602-4320-82C9-FBB3A6F71E8B}"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337690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GB"/>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900799C-3602-4320-82C9-FBB3A6F71E8B}"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C1BA22-D3F9-4F47-96D4-BF8640C0EA59}"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50143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900799C-3602-4320-82C9-FBB3A6F71E8B}" type="datetimeFigureOut">
              <a:rPr lang="en-GB" smtClean="0"/>
              <a:t>06/03/2026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362339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GB"/>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900799C-3602-4320-82C9-FBB3A6F71E8B}" type="datetimeFigureOut">
              <a:rPr lang="en-GB" smtClean="0"/>
              <a:t>06/03/2026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1075577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900799C-3602-4320-82C9-FBB3A6F71E8B}" type="datetimeFigureOut">
              <a:rPr lang="en-GB" smtClean="0"/>
              <a:t>06/03/2026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2196456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0799C-3602-4320-82C9-FBB3A6F71E8B}" type="datetimeFigureOut">
              <a:rPr lang="en-GB" smtClean="0"/>
              <a:t>06/03/2026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511270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900799C-3602-4320-82C9-FBB3A6F71E8B}" type="datetimeFigureOut">
              <a:rPr lang="en-GB" smtClean="0"/>
              <a:t>06/03/2026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1069533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900799C-3602-4320-82C9-FBB3A6F71E8B}" type="datetimeFigureOut">
              <a:rPr lang="en-GB" smtClean="0"/>
              <a:t>06/03/2026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2422316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900799C-3602-4320-82C9-FBB3A6F71E8B}"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3381466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900799C-3602-4320-82C9-FBB3A6F71E8B}"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C1BA22-D3F9-4F47-96D4-BF8640C0EA59}" type="slidenum">
              <a:rPr lang="en-GB" smtClean="0"/>
              <a:t>‹#›</a:t>
            </a:fld>
            <a:endParaRPr lang="en-GB"/>
          </a:p>
        </p:txBody>
      </p:sp>
    </p:spTree>
    <p:extLst>
      <p:ext uri="{BB962C8B-B14F-4D97-AF65-F5344CB8AC3E}">
        <p14:creationId xmlns:p14="http://schemas.microsoft.com/office/powerpoint/2010/main" val="2376472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900799C-3602-4320-82C9-FBB3A6F71E8B}" type="datetimeFigureOut">
              <a:rPr lang="en-GB" smtClean="0"/>
              <a:t>06/03/2026</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5C1BA22-D3F9-4F47-96D4-BF8640C0EA59}" type="slidenum">
              <a:rPr lang="en-GB" smtClean="0"/>
              <a:t>‹#›</a:t>
            </a:fld>
            <a:endParaRPr lang="en-GB"/>
          </a:p>
        </p:txBody>
      </p:sp>
    </p:spTree>
    <p:extLst>
      <p:ext uri="{BB962C8B-B14F-4D97-AF65-F5344CB8AC3E}">
        <p14:creationId xmlns:p14="http://schemas.microsoft.com/office/powerpoint/2010/main" val="262616050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4CEED-A99B-2E36-8D3E-0396C436F8EC}"/>
              </a:ext>
            </a:extLst>
          </p:cNvPr>
          <p:cNvSpPr>
            <a:spLocks noGrp="1"/>
          </p:cNvSpPr>
          <p:nvPr>
            <p:ph type="ctrTitle"/>
          </p:nvPr>
        </p:nvSpPr>
        <p:spPr>
          <a:xfrm>
            <a:off x="1524000" y="228600"/>
            <a:ext cx="9144000" cy="3281363"/>
          </a:xfrm>
        </p:spPr>
        <p:txBody>
          <a:bodyPr>
            <a:normAutofit/>
          </a:bodyPr>
          <a:lstStyle/>
          <a:p>
            <a:r>
              <a:rPr lang="en-GB" sz="6000" dirty="0" err="1"/>
              <a:t>FracFocus</a:t>
            </a:r>
            <a:r>
              <a:rPr lang="en-GB" sz="6000" dirty="0"/>
              <a:t> Well &amp; Chemical Usage Analysis</a:t>
            </a:r>
          </a:p>
        </p:txBody>
      </p:sp>
      <p:sp>
        <p:nvSpPr>
          <p:cNvPr id="5" name="Subtitle 4">
            <a:extLst>
              <a:ext uri="{FF2B5EF4-FFF2-40B4-BE49-F238E27FC236}">
                <a16:creationId xmlns:a16="http://schemas.microsoft.com/office/drawing/2014/main" id="{F539A9F5-BC08-9292-D439-C0A31FB7A005}"/>
              </a:ext>
            </a:extLst>
          </p:cNvPr>
          <p:cNvSpPr>
            <a:spLocks noGrp="1"/>
          </p:cNvSpPr>
          <p:nvPr>
            <p:ph type="subTitle" idx="1"/>
          </p:nvPr>
        </p:nvSpPr>
        <p:spPr>
          <a:xfrm>
            <a:off x="1417320" y="4800600"/>
            <a:ext cx="9262872" cy="1691640"/>
          </a:xfrm>
        </p:spPr>
        <p:txBody>
          <a:bodyPr/>
          <a:lstStyle/>
          <a:p>
            <a:r>
              <a:rPr lang="en-GB" dirty="0">
                <a:solidFill>
                  <a:schemeClr val="tx1"/>
                </a:solidFill>
              </a:rPr>
              <a:t>Chirality Case Study</a:t>
            </a:r>
          </a:p>
          <a:p>
            <a:endParaRPr lang="en-GB" dirty="0">
              <a:solidFill>
                <a:schemeClr val="tx1"/>
              </a:solidFill>
            </a:endParaRPr>
          </a:p>
          <a:p>
            <a:r>
              <a:rPr lang="en-GB" dirty="0">
                <a:solidFill>
                  <a:schemeClr val="tx1"/>
                </a:solidFill>
              </a:rPr>
              <a:t>Presenter - Pamela Odurukwe</a:t>
            </a:r>
          </a:p>
        </p:txBody>
      </p:sp>
    </p:spTree>
    <p:extLst>
      <p:ext uri="{BB962C8B-B14F-4D97-AF65-F5344CB8AC3E}">
        <p14:creationId xmlns:p14="http://schemas.microsoft.com/office/powerpoint/2010/main" val="522586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B759-02AF-8036-D8D0-7675DEDFF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648DB-0C89-74F8-CDCA-3BD5CD5ADB56}"/>
              </a:ext>
            </a:extLst>
          </p:cNvPr>
          <p:cNvSpPr>
            <a:spLocks noGrp="1"/>
          </p:cNvSpPr>
          <p:nvPr>
            <p:ph type="ctrTitle"/>
          </p:nvPr>
        </p:nvSpPr>
        <p:spPr>
          <a:xfrm>
            <a:off x="1524000" y="228601"/>
            <a:ext cx="6705600" cy="685799"/>
          </a:xfrm>
        </p:spPr>
        <p:txBody>
          <a:bodyPr>
            <a:normAutofit/>
          </a:bodyPr>
          <a:lstStyle/>
          <a:p>
            <a:r>
              <a:rPr lang="en-GB" sz="4000" dirty="0"/>
              <a:t>Project Overview</a:t>
            </a:r>
          </a:p>
        </p:txBody>
      </p:sp>
      <p:sp>
        <p:nvSpPr>
          <p:cNvPr id="5" name="Subtitle 4">
            <a:extLst>
              <a:ext uri="{FF2B5EF4-FFF2-40B4-BE49-F238E27FC236}">
                <a16:creationId xmlns:a16="http://schemas.microsoft.com/office/drawing/2014/main" id="{28DE172B-41BE-D6AA-DCD9-165E99854422}"/>
              </a:ext>
            </a:extLst>
          </p:cNvPr>
          <p:cNvSpPr>
            <a:spLocks noGrp="1"/>
          </p:cNvSpPr>
          <p:nvPr>
            <p:ph type="subTitle" idx="1"/>
          </p:nvPr>
        </p:nvSpPr>
        <p:spPr>
          <a:xfrm>
            <a:off x="969263" y="3718560"/>
            <a:ext cx="10539663" cy="2074244"/>
          </a:xfrm>
        </p:spPr>
        <p:txBody>
          <a:bodyPr>
            <a:normAutofit/>
          </a:bodyPr>
          <a:lstStyle/>
          <a:p>
            <a:r>
              <a:rPr lang="en-GB" sz="1800" dirty="0">
                <a:solidFill>
                  <a:schemeClr val="tx1"/>
                </a:solidFill>
              </a:rPr>
              <a:t>This project </a:t>
            </a:r>
            <a:r>
              <a:rPr lang="en-GB" sz="1800" dirty="0" err="1">
                <a:solidFill>
                  <a:schemeClr val="tx1"/>
                </a:solidFill>
              </a:rPr>
              <a:t>analyzes</a:t>
            </a:r>
            <a:r>
              <a:rPr lang="en-GB" sz="1800" dirty="0">
                <a:solidFill>
                  <a:schemeClr val="tx1"/>
                </a:solidFill>
              </a:rPr>
              <a:t> hydraulic fracturing data to understand well performance, water usage, and chemical ingredient patterns across different operators, well types, and locations.</a:t>
            </a:r>
          </a:p>
          <a:p>
            <a:r>
              <a:rPr lang="en-GB" sz="1800" dirty="0">
                <a:solidFill>
                  <a:schemeClr val="tx1"/>
                </a:solidFill>
              </a:rPr>
              <a:t>The objective was to transform raw data into an interactive Power BI dashboard that enables stakeholders to quickly identify operational trends, resource usage patterns, and high-performing wells.</a:t>
            </a:r>
          </a:p>
        </p:txBody>
      </p:sp>
      <p:sp>
        <p:nvSpPr>
          <p:cNvPr id="3" name="Subtitle 4">
            <a:extLst>
              <a:ext uri="{FF2B5EF4-FFF2-40B4-BE49-F238E27FC236}">
                <a16:creationId xmlns:a16="http://schemas.microsoft.com/office/drawing/2014/main" id="{AA3B7ACD-8545-3572-8EE4-CA4310844559}"/>
              </a:ext>
            </a:extLst>
          </p:cNvPr>
          <p:cNvSpPr txBox="1">
            <a:spLocks/>
          </p:cNvSpPr>
          <p:nvPr/>
        </p:nvSpPr>
        <p:spPr>
          <a:xfrm>
            <a:off x="1066799" y="1644316"/>
            <a:ext cx="10539663" cy="1574372"/>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GB" sz="1400" dirty="0">
                <a:solidFill>
                  <a:schemeClr val="tx1"/>
                </a:solidFill>
              </a:rPr>
              <a:t>What is Hydraulic Fracturing? </a:t>
            </a:r>
          </a:p>
          <a:p>
            <a:r>
              <a:rPr lang="en-GB" sz="1400" dirty="0">
                <a:solidFill>
                  <a:schemeClr val="tx1"/>
                </a:solidFill>
              </a:rPr>
              <a:t>Hydraulic fracturing, commonly known as fracking, is a well-stimulation method in which a mixture of water, sand, and chemical additives is injected at high pressure into deep rock formations to create fractures. These fractures increase the rock's permeability, allowing trapped oil, natural gas, or brine to flow more freely into the wellbore. </a:t>
            </a:r>
          </a:p>
        </p:txBody>
      </p:sp>
    </p:spTree>
    <p:extLst>
      <p:ext uri="{BB962C8B-B14F-4D97-AF65-F5344CB8AC3E}">
        <p14:creationId xmlns:p14="http://schemas.microsoft.com/office/powerpoint/2010/main" val="3222678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D9FF-BF00-DCA6-3227-E66A04558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AE3D3-0491-AB9C-F495-97B815A2E936}"/>
              </a:ext>
            </a:extLst>
          </p:cNvPr>
          <p:cNvSpPr>
            <a:spLocks noGrp="1"/>
          </p:cNvSpPr>
          <p:nvPr>
            <p:ph type="ctrTitle"/>
          </p:nvPr>
        </p:nvSpPr>
        <p:spPr>
          <a:xfrm>
            <a:off x="1524000" y="228600"/>
            <a:ext cx="9144000" cy="1183105"/>
          </a:xfrm>
        </p:spPr>
        <p:txBody>
          <a:bodyPr>
            <a:normAutofit/>
          </a:bodyPr>
          <a:lstStyle/>
          <a:p>
            <a:r>
              <a:rPr lang="en-GB" sz="4000" dirty="0"/>
              <a:t>Business Problem</a:t>
            </a:r>
          </a:p>
        </p:txBody>
      </p:sp>
      <p:sp>
        <p:nvSpPr>
          <p:cNvPr id="5" name="Subtitle 4">
            <a:extLst>
              <a:ext uri="{FF2B5EF4-FFF2-40B4-BE49-F238E27FC236}">
                <a16:creationId xmlns:a16="http://schemas.microsoft.com/office/drawing/2014/main" id="{F6FB7388-2A68-7337-312F-DC8CF086ECB5}"/>
              </a:ext>
            </a:extLst>
          </p:cNvPr>
          <p:cNvSpPr>
            <a:spLocks noGrp="1"/>
          </p:cNvSpPr>
          <p:nvPr>
            <p:ph type="subTitle" idx="1"/>
          </p:nvPr>
        </p:nvSpPr>
        <p:spPr>
          <a:xfrm>
            <a:off x="1261872" y="1604211"/>
            <a:ext cx="10320528" cy="3291639"/>
          </a:xfrm>
        </p:spPr>
        <p:txBody>
          <a:bodyPr>
            <a:normAutofit fontScale="92500" lnSpcReduction="10000"/>
          </a:bodyPr>
          <a:lstStyle/>
          <a:p>
            <a:endParaRPr lang="en-GB" sz="1800" dirty="0">
              <a:solidFill>
                <a:schemeClr val="tx1"/>
              </a:solidFill>
            </a:endParaRPr>
          </a:p>
          <a:p>
            <a:pPr marL="342900" indent="-342900">
              <a:buFont typeface="Arial" panose="020B0604020202020204" pitchFamily="34" charset="0"/>
              <a:buChar char="•"/>
            </a:pPr>
            <a:r>
              <a:rPr lang="en-GB" sz="1800" dirty="0">
                <a:solidFill>
                  <a:schemeClr val="tx1"/>
                </a:solidFill>
              </a:rPr>
              <a:t>Understand which wells are performing best</a:t>
            </a:r>
          </a:p>
          <a:p>
            <a:endParaRPr lang="en-GB" sz="1800" dirty="0">
              <a:solidFill>
                <a:schemeClr val="tx1"/>
              </a:solidFill>
            </a:endParaRPr>
          </a:p>
          <a:p>
            <a:pPr marL="342900" indent="-342900">
              <a:buFont typeface="Arial" panose="020B0604020202020204" pitchFamily="34" charset="0"/>
              <a:buChar char="•"/>
            </a:pPr>
            <a:r>
              <a:rPr lang="en-GB" sz="1800" dirty="0">
                <a:solidFill>
                  <a:schemeClr val="tx1"/>
                </a:solidFill>
              </a:rPr>
              <a:t>Monitor water consumption patterns</a:t>
            </a:r>
          </a:p>
          <a:p>
            <a:endParaRPr lang="en-GB" sz="1800" dirty="0">
              <a:solidFill>
                <a:schemeClr val="tx1"/>
              </a:solidFill>
            </a:endParaRPr>
          </a:p>
          <a:p>
            <a:pPr marL="342900" indent="-342900">
              <a:buFont typeface="Arial" panose="020B0604020202020204" pitchFamily="34" charset="0"/>
              <a:buChar char="•"/>
            </a:pPr>
            <a:r>
              <a:rPr lang="en-GB" sz="1800" dirty="0">
                <a:solidFill>
                  <a:schemeClr val="tx1"/>
                </a:solidFill>
              </a:rPr>
              <a:t>Track Mass ingredient usage</a:t>
            </a:r>
          </a:p>
          <a:p>
            <a:endParaRPr lang="en-GB" sz="1800" dirty="0">
              <a:solidFill>
                <a:schemeClr val="tx1"/>
              </a:solidFill>
            </a:endParaRPr>
          </a:p>
          <a:p>
            <a:pPr marL="342900" indent="-342900">
              <a:buFont typeface="Arial" panose="020B0604020202020204" pitchFamily="34" charset="0"/>
              <a:buChar char="•"/>
            </a:pPr>
            <a:r>
              <a:rPr lang="en-GB" sz="1800" dirty="0">
                <a:solidFill>
                  <a:schemeClr val="tx1"/>
                </a:solidFill>
              </a:rPr>
              <a:t>Compare operators and operational resource usage</a:t>
            </a:r>
          </a:p>
        </p:txBody>
      </p:sp>
    </p:spTree>
    <p:extLst>
      <p:ext uri="{BB962C8B-B14F-4D97-AF65-F5344CB8AC3E}">
        <p14:creationId xmlns:p14="http://schemas.microsoft.com/office/powerpoint/2010/main" val="1237870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40898-AD54-5FF0-CF0F-E2F35F81D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E2F2C-6F79-336F-BE26-465CD848DBA0}"/>
              </a:ext>
            </a:extLst>
          </p:cNvPr>
          <p:cNvSpPr>
            <a:spLocks noGrp="1"/>
          </p:cNvSpPr>
          <p:nvPr>
            <p:ph type="ctrTitle"/>
          </p:nvPr>
        </p:nvSpPr>
        <p:spPr>
          <a:xfrm>
            <a:off x="1524000" y="228600"/>
            <a:ext cx="9769642" cy="1070811"/>
          </a:xfrm>
        </p:spPr>
        <p:txBody>
          <a:bodyPr>
            <a:normAutofit/>
          </a:bodyPr>
          <a:lstStyle/>
          <a:p>
            <a:r>
              <a:rPr lang="en-GB" sz="4000"/>
              <a:t>Key Business Questions</a:t>
            </a:r>
            <a:endParaRPr lang="en-GB" sz="4000" dirty="0"/>
          </a:p>
        </p:txBody>
      </p:sp>
      <p:sp>
        <p:nvSpPr>
          <p:cNvPr id="5" name="Subtitle 4">
            <a:extLst>
              <a:ext uri="{FF2B5EF4-FFF2-40B4-BE49-F238E27FC236}">
                <a16:creationId xmlns:a16="http://schemas.microsoft.com/office/drawing/2014/main" id="{CB17537D-F69B-C8CD-8ED1-0BAA20215EB8}"/>
              </a:ext>
            </a:extLst>
          </p:cNvPr>
          <p:cNvSpPr>
            <a:spLocks noGrp="1"/>
          </p:cNvSpPr>
          <p:nvPr>
            <p:ph type="subTitle" idx="1"/>
          </p:nvPr>
        </p:nvSpPr>
        <p:spPr>
          <a:xfrm>
            <a:off x="1261872" y="1524000"/>
            <a:ext cx="9418320" cy="3349752"/>
          </a:xfrm>
        </p:spPr>
        <p:txBody>
          <a:bodyPr>
            <a:normAutofit/>
          </a:bodyPr>
          <a:lstStyle/>
          <a:p>
            <a:endParaRPr lang="en-GB" sz="1800">
              <a:solidFill>
                <a:schemeClr val="tx1"/>
              </a:solidFill>
            </a:endParaRPr>
          </a:p>
          <a:p>
            <a:pPr marL="342900" indent="-342900">
              <a:buFont typeface="Arial" panose="020B0604020202020204" pitchFamily="34" charset="0"/>
              <a:buChar char="•"/>
            </a:pPr>
            <a:r>
              <a:rPr lang="en-GB" sz="1800">
                <a:solidFill>
                  <a:schemeClr val="tx1"/>
                </a:solidFill>
              </a:rPr>
              <a:t>Which wells demonstrate the strongest production performance over time?</a:t>
            </a:r>
          </a:p>
          <a:p>
            <a:pPr marL="342900" indent="-342900">
              <a:buFont typeface="Arial" panose="020B0604020202020204" pitchFamily="34" charset="0"/>
              <a:buChar char="•"/>
            </a:pPr>
            <a:r>
              <a:rPr lang="en-GB" sz="1800">
                <a:solidFill>
                  <a:schemeClr val="tx1"/>
                </a:solidFill>
              </a:rPr>
              <a:t>What ingredients are most commonly used in hydraulic fracturing?</a:t>
            </a:r>
          </a:p>
          <a:p>
            <a:pPr marL="342900" indent="-342900">
              <a:buFont typeface="Arial" panose="020B0604020202020204" pitchFamily="34" charset="0"/>
              <a:buChar char="•"/>
            </a:pPr>
            <a:r>
              <a:rPr lang="en-GB" sz="1800">
                <a:solidFill>
                  <a:schemeClr val="tx1"/>
                </a:solidFill>
              </a:rPr>
              <a:t>Which operators are responsible for the largest activity levels?</a:t>
            </a:r>
          </a:p>
          <a:p>
            <a:pPr marL="342900" indent="-342900">
              <a:buFont typeface="Arial" panose="020B0604020202020204" pitchFamily="34" charset="0"/>
              <a:buChar char="•"/>
            </a:pPr>
            <a:r>
              <a:rPr lang="en-GB" sz="1800">
                <a:solidFill>
                  <a:schemeClr val="tx1"/>
                </a:solidFill>
              </a:rPr>
              <a:t>Are there observable trends in performance over time?</a:t>
            </a:r>
          </a:p>
          <a:p>
            <a:pPr marL="342900" indent="-342900">
              <a:buFont typeface="Arial" panose="020B0604020202020204" pitchFamily="34" charset="0"/>
              <a:buChar char="•"/>
            </a:pPr>
            <a:r>
              <a:rPr lang="en-GB" sz="1800">
                <a:solidFill>
                  <a:schemeClr val="tx1"/>
                </a:solidFill>
              </a:rPr>
              <a:t>Which locations show the highest activities</a:t>
            </a:r>
            <a:endParaRPr lang="en-GB" sz="1800" dirty="0">
              <a:solidFill>
                <a:schemeClr val="tx1"/>
              </a:solidFill>
            </a:endParaRPr>
          </a:p>
        </p:txBody>
      </p:sp>
    </p:spTree>
    <p:extLst>
      <p:ext uri="{BB962C8B-B14F-4D97-AF65-F5344CB8AC3E}">
        <p14:creationId xmlns:p14="http://schemas.microsoft.com/office/powerpoint/2010/main" val="1606372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2F4AA-F8B4-7147-FC56-7B1259907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720CC-7636-CC01-6B3A-04FBCCCFAB6F}"/>
              </a:ext>
            </a:extLst>
          </p:cNvPr>
          <p:cNvSpPr>
            <a:spLocks noGrp="1"/>
          </p:cNvSpPr>
          <p:nvPr>
            <p:ph type="ctrTitle"/>
          </p:nvPr>
        </p:nvSpPr>
        <p:spPr>
          <a:xfrm>
            <a:off x="1524000" y="228600"/>
            <a:ext cx="9144000" cy="1070811"/>
          </a:xfrm>
        </p:spPr>
        <p:txBody>
          <a:bodyPr>
            <a:normAutofit/>
          </a:bodyPr>
          <a:lstStyle/>
          <a:p>
            <a:r>
              <a:rPr lang="en-GB" sz="4000" dirty="0"/>
              <a:t>Assumptions</a:t>
            </a:r>
          </a:p>
        </p:txBody>
      </p:sp>
      <p:sp>
        <p:nvSpPr>
          <p:cNvPr id="5" name="Subtitle 4">
            <a:extLst>
              <a:ext uri="{FF2B5EF4-FFF2-40B4-BE49-F238E27FC236}">
                <a16:creationId xmlns:a16="http://schemas.microsoft.com/office/drawing/2014/main" id="{D150388A-5CE9-B5AB-61AA-6B4E7A56B108}"/>
              </a:ext>
            </a:extLst>
          </p:cNvPr>
          <p:cNvSpPr>
            <a:spLocks noGrp="1"/>
          </p:cNvSpPr>
          <p:nvPr>
            <p:ph type="subTitle" idx="1"/>
          </p:nvPr>
        </p:nvSpPr>
        <p:spPr>
          <a:xfrm>
            <a:off x="1261872" y="1491435"/>
            <a:ext cx="9418320" cy="4415589"/>
          </a:xfrm>
        </p:spPr>
        <p:txBody>
          <a:bodyPr>
            <a:normAutofit/>
          </a:bodyPr>
          <a:lstStyle/>
          <a:p>
            <a:pPr marL="342900" indent="-342900">
              <a:buFont typeface="Arial" panose="020B0604020202020204" pitchFamily="34" charset="0"/>
              <a:buChar char="•"/>
            </a:pPr>
            <a:endParaRPr lang="en-GB" sz="1800" dirty="0">
              <a:solidFill>
                <a:schemeClr val="tx1"/>
              </a:solidFill>
            </a:endParaRPr>
          </a:p>
          <a:p>
            <a:pPr marL="342900" indent="-342900">
              <a:buFont typeface="Arial" panose="020B0604020202020204" pitchFamily="34" charset="0"/>
              <a:buChar char="•"/>
            </a:pPr>
            <a:endParaRPr lang="en-GB" sz="1800" dirty="0">
              <a:solidFill>
                <a:schemeClr val="tx1"/>
              </a:solidFill>
            </a:endParaRPr>
          </a:p>
          <a:p>
            <a:pPr marL="342900" indent="-342900">
              <a:buFont typeface="Arial" panose="020B0604020202020204" pitchFamily="34" charset="0"/>
              <a:buChar char="•"/>
            </a:pPr>
            <a:r>
              <a:rPr lang="en-GB" sz="1800" dirty="0">
                <a:solidFill>
                  <a:schemeClr val="tx1"/>
                </a:solidFill>
              </a:rPr>
              <a:t>Each well disclosure represents a unique operational record.</a:t>
            </a:r>
          </a:p>
          <a:p>
            <a:pPr marL="342900" indent="-342900">
              <a:buFont typeface="Arial" panose="020B0604020202020204" pitchFamily="34" charset="0"/>
              <a:buChar char="•"/>
            </a:pPr>
            <a:r>
              <a:rPr lang="en-GB" sz="1800" dirty="0">
                <a:solidFill>
                  <a:schemeClr val="tx1"/>
                </a:solidFill>
              </a:rPr>
              <a:t>Water volume values are assumed to be correctly reported and comparable across wells.</a:t>
            </a:r>
          </a:p>
          <a:p>
            <a:pPr marL="342900" indent="-342900">
              <a:buFont typeface="Arial" panose="020B0604020202020204" pitchFamily="34" charset="0"/>
              <a:buChar char="•"/>
            </a:pPr>
            <a:r>
              <a:rPr lang="en-GB" sz="1800" dirty="0">
                <a:solidFill>
                  <a:schemeClr val="tx1"/>
                </a:solidFill>
              </a:rPr>
              <a:t>Chemical ingredient mass represents the amount used per disclosure event.</a:t>
            </a:r>
          </a:p>
          <a:p>
            <a:pPr marL="342900" indent="-342900">
              <a:buFont typeface="Arial" panose="020B0604020202020204" pitchFamily="34" charset="0"/>
              <a:buChar char="•"/>
            </a:pPr>
            <a:r>
              <a:rPr lang="en-GB" sz="1800" dirty="0">
                <a:solidFill>
                  <a:schemeClr val="tx1"/>
                </a:solidFill>
              </a:rPr>
              <a:t>Year fields represent the time of well activity </a:t>
            </a:r>
          </a:p>
        </p:txBody>
      </p:sp>
    </p:spTree>
    <p:extLst>
      <p:ext uri="{BB962C8B-B14F-4D97-AF65-F5344CB8AC3E}">
        <p14:creationId xmlns:p14="http://schemas.microsoft.com/office/powerpoint/2010/main" val="3273264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1258028-7863-62AD-A8E1-480E36F3766C}"/>
              </a:ext>
            </a:extLst>
          </p:cNvPr>
          <p:cNvSpPr txBox="1">
            <a:spLocks/>
          </p:cNvSpPr>
          <p:nvPr/>
        </p:nvSpPr>
        <p:spPr>
          <a:xfrm>
            <a:off x="1414272" y="902209"/>
            <a:ext cx="3319272" cy="2002536"/>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GB" dirty="0"/>
          </a:p>
        </p:txBody>
      </p:sp>
      <p:sp>
        <p:nvSpPr>
          <p:cNvPr id="7" name="Content Placeholder 6">
            <a:extLst>
              <a:ext uri="{FF2B5EF4-FFF2-40B4-BE49-F238E27FC236}">
                <a16:creationId xmlns:a16="http://schemas.microsoft.com/office/drawing/2014/main" id="{99943602-5E62-BD95-ECB3-B684C21E472B}"/>
              </a:ext>
            </a:extLst>
          </p:cNvPr>
          <p:cNvSpPr>
            <a:spLocks noGrp="1"/>
          </p:cNvSpPr>
          <p:nvPr>
            <p:ph idx="1"/>
          </p:nvPr>
        </p:nvSpPr>
        <p:spPr>
          <a:xfrm>
            <a:off x="3730752" y="3672840"/>
            <a:ext cx="3319272" cy="1325880"/>
          </a:xfrm>
        </p:spPr>
        <p:txBody>
          <a:bodyPr/>
          <a:lstStyle/>
          <a:p>
            <a:pPr marL="0" indent="0">
              <a:buNone/>
            </a:pPr>
            <a:r>
              <a:rPr lang="en-CA" dirty="0"/>
              <a:t>                Reporting</a:t>
            </a:r>
          </a:p>
          <a:p>
            <a:pPr marL="0" indent="0" algn="ctr">
              <a:buNone/>
            </a:pPr>
            <a:r>
              <a:rPr lang="en-CA" dirty="0" err="1"/>
              <a:t>PowerBI</a:t>
            </a:r>
            <a:r>
              <a:rPr lang="en-CA" dirty="0"/>
              <a:t> Service</a:t>
            </a:r>
            <a:endParaRPr lang="en-GB" dirty="0"/>
          </a:p>
        </p:txBody>
      </p:sp>
      <p:sp>
        <p:nvSpPr>
          <p:cNvPr id="8" name="Content Placeholder 6">
            <a:extLst>
              <a:ext uri="{FF2B5EF4-FFF2-40B4-BE49-F238E27FC236}">
                <a16:creationId xmlns:a16="http://schemas.microsoft.com/office/drawing/2014/main" id="{15335BA2-A022-9949-5FC2-3DF0034D03C5}"/>
              </a:ext>
            </a:extLst>
          </p:cNvPr>
          <p:cNvSpPr txBox="1">
            <a:spLocks/>
          </p:cNvSpPr>
          <p:nvPr/>
        </p:nvSpPr>
        <p:spPr>
          <a:xfrm>
            <a:off x="957072" y="1331976"/>
            <a:ext cx="3319272" cy="1325880"/>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CA" dirty="0"/>
              <a:t>Data Ingestion and Storage</a:t>
            </a:r>
          </a:p>
          <a:p>
            <a:pPr marL="0" indent="0" algn="ctr">
              <a:buFont typeface="Arial" pitchFamily="34" charset="0"/>
              <a:buNone/>
            </a:pPr>
            <a:r>
              <a:rPr lang="en-CA" dirty="0"/>
              <a:t>MySQL</a:t>
            </a:r>
            <a:endParaRPr lang="en-GB" dirty="0"/>
          </a:p>
        </p:txBody>
      </p:sp>
      <p:sp>
        <p:nvSpPr>
          <p:cNvPr id="9" name="Content Placeholder 6">
            <a:extLst>
              <a:ext uri="{FF2B5EF4-FFF2-40B4-BE49-F238E27FC236}">
                <a16:creationId xmlns:a16="http://schemas.microsoft.com/office/drawing/2014/main" id="{6E8F79CC-F637-323B-64EC-DF317156257B}"/>
              </a:ext>
            </a:extLst>
          </p:cNvPr>
          <p:cNvSpPr txBox="1">
            <a:spLocks/>
          </p:cNvSpPr>
          <p:nvPr/>
        </p:nvSpPr>
        <p:spPr>
          <a:xfrm>
            <a:off x="6336792" y="1299973"/>
            <a:ext cx="3727704" cy="1325880"/>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CA" dirty="0"/>
              <a:t>Data Visualization and Insights</a:t>
            </a:r>
          </a:p>
          <a:p>
            <a:pPr marL="0" indent="0" algn="ctr">
              <a:buFont typeface="Arial" pitchFamily="34" charset="0"/>
              <a:buNone/>
            </a:pPr>
            <a:r>
              <a:rPr lang="en-CA" dirty="0" err="1"/>
              <a:t>PowerBI</a:t>
            </a:r>
            <a:endParaRPr lang="en-GB" dirty="0"/>
          </a:p>
        </p:txBody>
      </p:sp>
      <p:cxnSp>
        <p:nvCxnSpPr>
          <p:cNvPr id="11" name="Straight Arrow Connector 10">
            <a:extLst>
              <a:ext uri="{FF2B5EF4-FFF2-40B4-BE49-F238E27FC236}">
                <a16:creationId xmlns:a16="http://schemas.microsoft.com/office/drawing/2014/main" id="{723045FD-1F76-C29D-7E4F-5C9CD5B6175A}"/>
              </a:ext>
            </a:extLst>
          </p:cNvPr>
          <p:cNvCxnSpPr>
            <a:cxnSpLocks/>
          </p:cNvCxnSpPr>
          <p:nvPr/>
        </p:nvCxnSpPr>
        <p:spPr>
          <a:xfrm>
            <a:off x="4187952" y="1755648"/>
            <a:ext cx="19080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1ADBA5B-51D3-4FE2-4581-A2665C1608F8}"/>
              </a:ext>
            </a:extLst>
          </p:cNvPr>
          <p:cNvCxnSpPr>
            <a:cxnSpLocks/>
          </p:cNvCxnSpPr>
          <p:nvPr/>
        </p:nvCxnSpPr>
        <p:spPr>
          <a:xfrm flipH="1">
            <a:off x="6492240" y="2340864"/>
            <a:ext cx="1627632" cy="1673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089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E43B4-DC59-E5CD-ED1D-6E188A13D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E690E-6046-0C92-F040-ABC97EEA56B9}"/>
              </a:ext>
            </a:extLst>
          </p:cNvPr>
          <p:cNvSpPr>
            <a:spLocks noGrp="1"/>
          </p:cNvSpPr>
          <p:nvPr>
            <p:ph type="ctrTitle"/>
          </p:nvPr>
        </p:nvSpPr>
        <p:spPr>
          <a:xfrm>
            <a:off x="898358" y="228600"/>
            <a:ext cx="10748210" cy="1070811"/>
          </a:xfrm>
        </p:spPr>
        <p:txBody>
          <a:bodyPr>
            <a:normAutofit/>
          </a:bodyPr>
          <a:lstStyle/>
          <a:p>
            <a:r>
              <a:rPr lang="en-GB" sz="4000" dirty="0"/>
              <a:t>Data Ingestion and Storage</a:t>
            </a:r>
          </a:p>
        </p:txBody>
      </p:sp>
      <p:sp>
        <p:nvSpPr>
          <p:cNvPr id="5" name="Subtitle 4">
            <a:extLst>
              <a:ext uri="{FF2B5EF4-FFF2-40B4-BE49-F238E27FC236}">
                <a16:creationId xmlns:a16="http://schemas.microsoft.com/office/drawing/2014/main" id="{9CAC2C6F-6CAE-2B39-0EFF-0F086268E8E9}"/>
              </a:ext>
            </a:extLst>
          </p:cNvPr>
          <p:cNvSpPr>
            <a:spLocks noGrp="1"/>
          </p:cNvSpPr>
          <p:nvPr>
            <p:ph type="subTitle" idx="1"/>
          </p:nvPr>
        </p:nvSpPr>
        <p:spPr>
          <a:xfrm>
            <a:off x="1380102" y="3429000"/>
            <a:ext cx="4892361" cy="2592438"/>
          </a:xfrm>
        </p:spPr>
        <p:txBody>
          <a:bodyPr>
            <a:noAutofit/>
          </a:bodyPr>
          <a:lstStyle/>
          <a:p>
            <a:r>
              <a:rPr lang="en-GB" sz="1400" dirty="0">
                <a:solidFill>
                  <a:schemeClr val="tx1"/>
                </a:solidFill>
              </a:rPr>
              <a:t>MySQL was chosen as the preferred database because</a:t>
            </a:r>
          </a:p>
          <a:p>
            <a:pPr marL="285750" indent="-285750">
              <a:buFont typeface="Arial" panose="020B0604020202020204" pitchFamily="34" charset="0"/>
              <a:buChar char="•"/>
            </a:pPr>
            <a:r>
              <a:rPr lang="en-GB" sz="1400" dirty="0">
                <a:solidFill>
                  <a:schemeClr val="tx1"/>
                </a:solidFill>
              </a:rPr>
              <a:t>Familiarity with MySQL-based data manipulation and querying</a:t>
            </a:r>
          </a:p>
          <a:p>
            <a:pPr marL="285750" indent="-285750">
              <a:buFont typeface="Arial" panose="020B0604020202020204" pitchFamily="34" charset="0"/>
              <a:buChar char="•"/>
            </a:pPr>
            <a:r>
              <a:rPr lang="en-GB" sz="1400" dirty="0">
                <a:solidFill>
                  <a:schemeClr val="tx1"/>
                </a:solidFill>
              </a:rPr>
              <a:t>Efficient handling of large datasets</a:t>
            </a:r>
          </a:p>
          <a:p>
            <a:pPr marL="285750" indent="-285750">
              <a:buFont typeface="Arial" panose="020B0604020202020204" pitchFamily="34" charset="0"/>
              <a:buChar char="•"/>
            </a:pPr>
            <a:r>
              <a:rPr lang="en-GB" sz="1400" dirty="0">
                <a:solidFill>
                  <a:schemeClr val="tx1"/>
                </a:solidFill>
              </a:rPr>
              <a:t>Ability to create structured views for analysis</a:t>
            </a:r>
          </a:p>
          <a:p>
            <a:pPr marL="285750" indent="-285750">
              <a:buFont typeface="Arial" panose="020B0604020202020204" pitchFamily="34" charset="0"/>
              <a:buChar char="•"/>
            </a:pPr>
            <a:r>
              <a:rPr lang="en-GB" sz="1400" dirty="0">
                <a:solidFill>
                  <a:schemeClr val="tx1"/>
                </a:solidFill>
              </a:rPr>
              <a:t>Seamless integration with Power BI</a:t>
            </a:r>
          </a:p>
          <a:p>
            <a:pPr marL="285750" indent="-285750">
              <a:buFont typeface="Arial" panose="020B0604020202020204" pitchFamily="34" charset="0"/>
              <a:buChar char="•"/>
            </a:pPr>
            <a:r>
              <a:rPr lang="en-GB" sz="1400" dirty="0">
                <a:solidFill>
                  <a:schemeClr val="tx1"/>
                </a:solidFill>
              </a:rPr>
              <a:t>Reliable relational data storage</a:t>
            </a:r>
          </a:p>
        </p:txBody>
      </p:sp>
      <p:graphicFrame>
        <p:nvGraphicFramePr>
          <p:cNvPr id="3" name="Table 2">
            <a:extLst>
              <a:ext uri="{FF2B5EF4-FFF2-40B4-BE49-F238E27FC236}">
                <a16:creationId xmlns:a16="http://schemas.microsoft.com/office/drawing/2014/main" id="{8C7935E4-B49E-2F3D-6073-5427469EDD44}"/>
              </a:ext>
            </a:extLst>
          </p:cNvPr>
          <p:cNvGraphicFramePr>
            <a:graphicFrameLocks noGrp="1"/>
          </p:cNvGraphicFramePr>
          <p:nvPr>
            <p:extLst>
              <p:ext uri="{D42A27DB-BD31-4B8C-83A1-F6EECF244321}">
                <p14:modId xmlns:p14="http://schemas.microsoft.com/office/powerpoint/2010/main" val="3306112122"/>
              </p:ext>
            </p:extLst>
          </p:nvPr>
        </p:nvGraphicFramePr>
        <p:xfrm>
          <a:off x="7123176" y="2708709"/>
          <a:ext cx="3526924" cy="1691640"/>
        </p:xfrm>
        <a:graphic>
          <a:graphicData uri="http://schemas.openxmlformats.org/drawingml/2006/table">
            <a:tbl>
              <a:tblPr firstRow="1" bandRow="1">
                <a:tableStyleId>{5C22544A-7EE6-4342-B048-85BDC9FD1C3A}</a:tableStyleId>
              </a:tblPr>
              <a:tblGrid>
                <a:gridCol w="881731">
                  <a:extLst>
                    <a:ext uri="{9D8B030D-6E8A-4147-A177-3AD203B41FA5}">
                      <a16:colId xmlns:a16="http://schemas.microsoft.com/office/drawing/2014/main" val="3714396316"/>
                    </a:ext>
                  </a:extLst>
                </a:gridCol>
                <a:gridCol w="881731">
                  <a:extLst>
                    <a:ext uri="{9D8B030D-6E8A-4147-A177-3AD203B41FA5}">
                      <a16:colId xmlns:a16="http://schemas.microsoft.com/office/drawing/2014/main" val="3724701416"/>
                    </a:ext>
                  </a:extLst>
                </a:gridCol>
                <a:gridCol w="881731">
                  <a:extLst>
                    <a:ext uri="{9D8B030D-6E8A-4147-A177-3AD203B41FA5}">
                      <a16:colId xmlns:a16="http://schemas.microsoft.com/office/drawing/2014/main" val="4170979905"/>
                    </a:ext>
                  </a:extLst>
                </a:gridCol>
                <a:gridCol w="881731">
                  <a:extLst>
                    <a:ext uri="{9D8B030D-6E8A-4147-A177-3AD203B41FA5}">
                      <a16:colId xmlns:a16="http://schemas.microsoft.com/office/drawing/2014/main" val="4140427751"/>
                    </a:ext>
                  </a:extLst>
                </a:gridCol>
              </a:tblGrid>
              <a:tr h="0">
                <a:tc>
                  <a:txBody>
                    <a:bodyPr/>
                    <a:lstStyle/>
                    <a:p>
                      <a:r>
                        <a:rPr lang="en-CA" sz="900" dirty="0"/>
                        <a:t>File category</a:t>
                      </a:r>
                      <a:endParaRPr lang="en-GB" sz="900" dirty="0"/>
                    </a:p>
                  </a:txBody>
                  <a:tcPr/>
                </a:tc>
                <a:tc>
                  <a:txBody>
                    <a:bodyPr/>
                    <a:lstStyle/>
                    <a:p>
                      <a:r>
                        <a:rPr lang="en-CA" sz="900" dirty="0"/>
                        <a:t>Number of files</a:t>
                      </a:r>
                      <a:endParaRPr lang="en-GB" sz="900" dirty="0"/>
                    </a:p>
                  </a:txBody>
                  <a:tcPr/>
                </a:tc>
                <a:tc>
                  <a:txBody>
                    <a:bodyPr/>
                    <a:lstStyle/>
                    <a:p>
                      <a:r>
                        <a:rPr lang="en-CA" sz="900" dirty="0"/>
                        <a:t>Rows</a:t>
                      </a:r>
                      <a:endParaRPr lang="en-GB" sz="900" dirty="0"/>
                    </a:p>
                  </a:txBody>
                  <a:tcPr/>
                </a:tc>
                <a:tc>
                  <a:txBody>
                    <a:bodyPr/>
                    <a:lstStyle/>
                    <a:p>
                      <a:r>
                        <a:rPr lang="en-CA" sz="900" dirty="0"/>
                        <a:t>Columns</a:t>
                      </a:r>
                      <a:endParaRPr lang="en-GB" sz="900" dirty="0"/>
                    </a:p>
                  </a:txBody>
                  <a:tcPr/>
                </a:tc>
                <a:extLst>
                  <a:ext uri="{0D108BD9-81ED-4DB2-BD59-A6C34878D82A}">
                    <a16:rowId xmlns:a16="http://schemas.microsoft.com/office/drawing/2014/main" val="1269341751"/>
                  </a:ext>
                </a:extLst>
              </a:tr>
              <a:tr h="297457">
                <a:tc>
                  <a:txBody>
                    <a:bodyPr/>
                    <a:lstStyle/>
                    <a:p>
                      <a:r>
                        <a:rPr lang="en-GB" sz="900" dirty="0" err="1"/>
                        <a:t>FracFocus</a:t>
                      </a:r>
                      <a:r>
                        <a:rPr lang="en-GB" sz="900" dirty="0"/>
                        <a:t> Registry</a:t>
                      </a:r>
                    </a:p>
                  </a:txBody>
                  <a:tcPr/>
                </a:tc>
                <a:tc>
                  <a:txBody>
                    <a:bodyPr/>
                    <a:lstStyle/>
                    <a:p>
                      <a:r>
                        <a:rPr lang="en-CA" sz="900" dirty="0"/>
                        <a:t>15</a:t>
                      </a:r>
                      <a:endParaRPr lang="en-GB" sz="900" dirty="0"/>
                    </a:p>
                  </a:txBody>
                  <a:tcPr/>
                </a:tc>
                <a:tc>
                  <a:txBody>
                    <a:bodyPr/>
                    <a:lstStyle/>
                    <a:p>
                      <a:r>
                        <a:rPr lang="en-CA" sz="900" dirty="0"/>
                        <a:t>7,079,950</a:t>
                      </a:r>
                      <a:endParaRPr lang="en-GB" sz="900" dirty="0"/>
                    </a:p>
                  </a:txBody>
                  <a:tcPr/>
                </a:tc>
                <a:tc>
                  <a:txBody>
                    <a:bodyPr/>
                    <a:lstStyle/>
                    <a:p>
                      <a:r>
                        <a:rPr lang="en-CA" sz="900" dirty="0"/>
                        <a:t>34</a:t>
                      </a:r>
                      <a:endParaRPr lang="en-GB" sz="900" dirty="0"/>
                    </a:p>
                  </a:txBody>
                  <a:tcPr/>
                </a:tc>
                <a:extLst>
                  <a:ext uri="{0D108BD9-81ED-4DB2-BD59-A6C34878D82A}">
                    <a16:rowId xmlns:a16="http://schemas.microsoft.com/office/drawing/2014/main" val="935385527"/>
                  </a:ext>
                </a:extLst>
              </a:tr>
              <a:tr h="297457">
                <a:tc>
                  <a:txBody>
                    <a:bodyPr/>
                    <a:lstStyle/>
                    <a:p>
                      <a:r>
                        <a:rPr lang="en-CA" sz="900" dirty="0"/>
                        <a:t>Disclosure List</a:t>
                      </a:r>
                      <a:endParaRPr lang="en-GB" sz="900" dirty="0"/>
                    </a:p>
                  </a:txBody>
                  <a:tcPr/>
                </a:tc>
                <a:tc>
                  <a:txBody>
                    <a:bodyPr/>
                    <a:lstStyle/>
                    <a:p>
                      <a:r>
                        <a:rPr lang="en-CA" sz="900" dirty="0"/>
                        <a:t>1</a:t>
                      </a:r>
                      <a:endParaRPr lang="en-GB" sz="900" dirty="0"/>
                    </a:p>
                  </a:txBody>
                  <a:tcPr/>
                </a:tc>
                <a:tc>
                  <a:txBody>
                    <a:bodyPr/>
                    <a:lstStyle/>
                    <a:p>
                      <a:r>
                        <a:rPr lang="en-CA" sz="900" dirty="0"/>
                        <a:t>244,036</a:t>
                      </a:r>
                      <a:endParaRPr lang="en-GB" sz="900" dirty="0"/>
                    </a:p>
                  </a:txBody>
                  <a:tcPr/>
                </a:tc>
                <a:tc>
                  <a:txBody>
                    <a:bodyPr/>
                    <a:lstStyle/>
                    <a:p>
                      <a:r>
                        <a:rPr lang="en-CA" sz="900" dirty="0"/>
                        <a:t>19</a:t>
                      </a:r>
                      <a:endParaRPr lang="en-GB" sz="900" dirty="0"/>
                    </a:p>
                  </a:txBody>
                  <a:tcPr/>
                </a:tc>
                <a:extLst>
                  <a:ext uri="{0D108BD9-81ED-4DB2-BD59-A6C34878D82A}">
                    <a16:rowId xmlns:a16="http://schemas.microsoft.com/office/drawing/2014/main" val="1708750282"/>
                  </a:ext>
                </a:extLst>
              </a:tr>
              <a:tr h="297457">
                <a:tc>
                  <a:txBody>
                    <a:bodyPr/>
                    <a:lstStyle/>
                    <a:p>
                      <a:r>
                        <a:rPr lang="en-CA" sz="900" dirty="0"/>
                        <a:t>Water Source</a:t>
                      </a:r>
                      <a:endParaRPr lang="en-GB" sz="900" dirty="0"/>
                    </a:p>
                  </a:txBody>
                  <a:tcPr/>
                </a:tc>
                <a:tc>
                  <a:txBody>
                    <a:bodyPr/>
                    <a:lstStyle/>
                    <a:p>
                      <a:r>
                        <a:rPr lang="en-CA" sz="900" dirty="0"/>
                        <a:t>1</a:t>
                      </a:r>
                      <a:endParaRPr lang="en-GB" sz="900" dirty="0"/>
                    </a:p>
                  </a:txBody>
                  <a:tcPr/>
                </a:tc>
                <a:tc>
                  <a:txBody>
                    <a:bodyPr/>
                    <a:lstStyle/>
                    <a:p>
                      <a:r>
                        <a:rPr lang="en-CA" sz="900" dirty="0"/>
                        <a:t>19,964</a:t>
                      </a:r>
                      <a:endParaRPr lang="en-GB" sz="900" dirty="0"/>
                    </a:p>
                  </a:txBody>
                  <a:tcPr/>
                </a:tc>
                <a:tc>
                  <a:txBody>
                    <a:bodyPr/>
                    <a:lstStyle/>
                    <a:p>
                      <a:r>
                        <a:rPr lang="en-CA" sz="900" dirty="0"/>
                        <a:t>9</a:t>
                      </a:r>
                      <a:endParaRPr lang="en-GB" sz="900" dirty="0"/>
                    </a:p>
                  </a:txBody>
                  <a:tcPr/>
                </a:tc>
                <a:extLst>
                  <a:ext uri="{0D108BD9-81ED-4DB2-BD59-A6C34878D82A}">
                    <a16:rowId xmlns:a16="http://schemas.microsoft.com/office/drawing/2014/main" val="2635427702"/>
                  </a:ext>
                </a:extLst>
              </a:tr>
              <a:tr h="172710">
                <a:tc>
                  <a:txBody>
                    <a:bodyPr/>
                    <a:lstStyle/>
                    <a:p>
                      <a:r>
                        <a:rPr lang="en-CA" sz="900" dirty="0"/>
                        <a:t>Readme csv</a:t>
                      </a:r>
                      <a:endParaRPr lang="en-GB" sz="900" dirty="0"/>
                    </a:p>
                  </a:txBody>
                  <a:tcPr/>
                </a:tc>
                <a:tc>
                  <a:txBody>
                    <a:bodyPr/>
                    <a:lstStyle/>
                    <a:p>
                      <a:r>
                        <a:rPr lang="en-CA" sz="900" dirty="0"/>
                        <a:t>1</a:t>
                      </a:r>
                      <a:endParaRPr lang="en-GB" sz="900" dirty="0"/>
                    </a:p>
                  </a:txBody>
                  <a:tcPr/>
                </a:tc>
                <a:tc>
                  <a:txBody>
                    <a:bodyPr/>
                    <a:lstStyle/>
                    <a:p>
                      <a:endParaRPr lang="en-GB" sz="900" dirty="0"/>
                    </a:p>
                  </a:txBody>
                  <a:tcPr/>
                </a:tc>
                <a:tc>
                  <a:txBody>
                    <a:bodyPr/>
                    <a:lstStyle/>
                    <a:p>
                      <a:endParaRPr lang="en-GB" sz="900" dirty="0"/>
                    </a:p>
                  </a:txBody>
                  <a:tcPr/>
                </a:tc>
                <a:extLst>
                  <a:ext uri="{0D108BD9-81ED-4DB2-BD59-A6C34878D82A}">
                    <a16:rowId xmlns:a16="http://schemas.microsoft.com/office/drawing/2014/main" val="1118688345"/>
                  </a:ext>
                </a:extLst>
              </a:tr>
            </a:tbl>
          </a:graphicData>
        </a:graphic>
      </p:graphicFrame>
      <p:sp>
        <p:nvSpPr>
          <p:cNvPr id="4" name="Subtitle 4">
            <a:extLst>
              <a:ext uri="{FF2B5EF4-FFF2-40B4-BE49-F238E27FC236}">
                <a16:creationId xmlns:a16="http://schemas.microsoft.com/office/drawing/2014/main" id="{0CEA5D74-B3A1-64C1-E885-B3EC58EEF535}"/>
              </a:ext>
            </a:extLst>
          </p:cNvPr>
          <p:cNvSpPr txBox="1">
            <a:spLocks/>
          </p:cNvSpPr>
          <p:nvPr/>
        </p:nvSpPr>
        <p:spPr>
          <a:xfrm>
            <a:off x="1414272" y="1451810"/>
            <a:ext cx="6312408" cy="1757733"/>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marL="285750" indent="-285750">
              <a:buFont typeface="Arial" panose="020B0604020202020204" pitchFamily="34" charset="0"/>
              <a:buChar char="•"/>
            </a:pPr>
            <a:r>
              <a:rPr lang="en-GB" sz="1400" dirty="0">
                <a:solidFill>
                  <a:schemeClr val="tx1"/>
                </a:solidFill>
              </a:rPr>
              <a:t>The dataset was sourced from the </a:t>
            </a:r>
            <a:r>
              <a:rPr lang="en-GB" sz="1400" b="1" dirty="0">
                <a:solidFill>
                  <a:schemeClr val="tx1"/>
                </a:solidFill>
              </a:rPr>
              <a:t>http://fracfocus.org/data-download</a:t>
            </a:r>
            <a:r>
              <a:rPr lang="en-GB" sz="1400" dirty="0">
                <a:solidFill>
                  <a:schemeClr val="tx1"/>
                </a:solidFill>
              </a:rPr>
              <a:t>.</a:t>
            </a:r>
          </a:p>
          <a:p>
            <a:pPr marL="285750" indent="-285750">
              <a:buFont typeface="Arial" panose="020B0604020202020204" pitchFamily="34" charset="0"/>
              <a:buChar char="•"/>
            </a:pPr>
            <a:r>
              <a:rPr lang="en-GB" sz="1400" dirty="0">
                <a:solidFill>
                  <a:schemeClr val="tx1"/>
                </a:solidFill>
              </a:rPr>
              <a:t>The ‘oil and gas data’ was downloaded as Microsoft Comma-Separated Values files in a Zip folder.</a:t>
            </a:r>
          </a:p>
          <a:p>
            <a:pPr marL="285750" indent="-285750">
              <a:buFont typeface="Arial" panose="020B0604020202020204" pitchFamily="34" charset="0"/>
              <a:buChar char="•"/>
            </a:pPr>
            <a:r>
              <a:rPr lang="en-GB" sz="1400" dirty="0">
                <a:solidFill>
                  <a:schemeClr val="tx1"/>
                </a:solidFill>
              </a:rPr>
              <a:t>18 files</a:t>
            </a:r>
          </a:p>
          <a:p>
            <a:endParaRPr lang="en-GB" sz="1400" dirty="0">
              <a:solidFill>
                <a:schemeClr val="tx1"/>
              </a:solidFill>
            </a:endParaRPr>
          </a:p>
          <a:p>
            <a:endParaRPr lang="en-GB" sz="1400" dirty="0">
              <a:solidFill>
                <a:schemeClr val="tx1"/>
              </a:solidFill>
            </a:endParaRPr>
          </a:p>
          <a:p>
            <a:endParaRPr lang="en-GB" sz="1400" dirty="0">
              <a:solidFill>
                <a:schemeClr val="tx1"/>
              </a:solidFill>
            </a:endParaRPr>
          </a:p>
          <a:p>
            <a:endParaRPr lang="en-GB" sz="1400" dirty="0">
              <a:solidFill>
                <a:schemeClr val="tx1"/>
              </a:solidFill>
            </a:endParaRPr>
          </a:p>
        </p:txBody>
      </p:sp>
    </p:spTree>
    <p:extLst>
      <p:ext uri="{BB962C8B-B14F-4D97-AF65-F5344CB8AC3E}">
        <p14:creationId xmlns:p14="http://schemas.microsoft.com/office/powerpoint/2010/main" val="1222438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7D94-C08E-FA61-05AE-2F4A999C3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93725-DDCA-0722-E126-3FBD3B7A3F35}"/>
              </a:ext>
            </a:extLst>
          </p:cNvPr>
          <p:cNvSpPr>
            <a:spLocks noGrp="1"/>
          </p:cNvSpPr>
          <p:nvPr>
            <p:ph type="ctrTitle"/>
          </p:nvPr>
        </p:nvSpPr>
        <p:spPr>
          <a:xfrm>
            <a:off x="898358" y="228600"/>
            <a:ext cx="10748210" cy="1070811"/>
          </a:xfrm>
        </p:spPr>
        <p:txBody>
          <a:bodyPr>
            <a:normAutofit/>
          </a:bodyPr>
          <a:lstStyle/>
          <a:p>
            <a:r>
              <a:rPr lang="en-GB" sz="4000" dirty="0"/>
              <a:t>Data Ingestion and Storage </a:t>
            </a:r>
            <a:r>
              <a:rPr lang="en-GB" sz="4000" dirty="0" err="1"/>
              <a:t>Contd</a:t>
            </a:r>
            <a:r>
              <a:rPr lang="en-GB" sz="4000" dirty="0"/>
              <a:t>…</a:t>
            </a:r>
          </a:p>
        </p:txBody>
      </p:sp>
      <p:sp>
        <p:nvSpPr>
          <p:cNvPr id="4" name="Subtitle 4">
            <a:extLst>
              <a:ext uri="{FF2B5EF4-FFF2-40B4-BE49-F238E27FC236}">
                <a16:creationId xmlns:a16="http://schemas.microsoft.com/office/drawing/2014/main" id="{5801A7E7-C131-CE48-FB1B-01EA870625D8}"/>
              </a:ext>
            </a:extLst>
          </p:cNvPr>
          <p:cNvSpPr txBox="1">
            <a:spLocks/>
          </p:cNvSpPr>
          <p:nvPr/>
        </p:nvSpPr>
        <p:spPr>
          <a:xfrm>
            <a:off x="630936" y="1451811"/>
            <a:ext cx="11082528" cy="1501701"/>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endParaRPr lang="en-GB" sz="1200" dirty="0">
              <a:solidFill>
                <a:schemeClr val="tx1"/>
              </a:solidFill>
            </a:endParaRPr>
          </a:p>
        </p:txBody>
      </p:sp>
      <p:pic>
        <p:nvPicPr>
          <p:cNvPr id="5" name="Picture 4">
            <a:extLst>
              <a:ext uri="{FF2B5EF4-FFF2-40B4-BE49-F238E27FC236}">
                <a16:creationId xmlns:a16="http://schemas.microsoft.com/office/drawing/2014/main" id="{3032DB23-2EC5-393B-B3C9-5A2A7842E9DA}"/>
              </a:ext>
            </a:extLst>
          </p:cNvPr>
          <p:cNvPicPr>
            <a:picLocks noChangeAspect="1"/>
          </p:cNvPicPr>
          <p:nvPr/>
        </p:nvPicPr>
        <p:blipFill>
          <a:blip r:embed="rId2"/>
          <a:stretch>
            <a:fillRect/>
          </a:stretch>
        </p:blipFill>
        <p:spPr>
          <a:xfrm>
            <a:off x="7308431" y="2000858"/>
            <a:ext cx="2229161" cy="2210108"/>
          </a:xfrm>
          <a:prstGeom prst="rect">
            <a:avLst/>
          </a:prstGeom>
        </p:spPr>
      </p:pic>
      <p:sp>
        <p:nvSpPr>
          <p:cNvPr id="6" name="TextBox 5">
            <a:extLst>
              <a:ext uri="{FF2B5EF4-FFF2-40B4-BE49-F238E27FC236}">
                <a16:creationId xmlns:a16="http://schemas.microsoft.com/office/drawing/2014/main" id="{370B51C2-721B-DE37-ABAB-543A9D37D50D}"/>
              </a:ext>
            </a:extLst>
          </p:cNvPr>
          <p:cNvSpPr txBox="1"/>
          <p:nvPr/>
        </p:nvSpPr>
        <p:spPr>
          <a:xfrm>
            <a:off x="779486" y="1601163"/>
            <a:ext cx="6134822" cy="4041299"/>
          </a:xfrm>
          <a:prstGeom prst="rect">
            <a:avLst/>
          </a:prstGeom>
          <a:noFill/>
        </p:spPr>
        <p:txBody>
          <a:bodyPr wrap="square">
            <a:spAutoFit/>
          </a:bodyPr>
          <a:lstStyle/>
          <a:p>
            <a:endParaRPr lang="en-GB" dirty="0"/>
          </a:p>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ea typeface="Aptos" panose="020B0004020202020204" pitchFamily="34" charset="0"/>
                <a:cs typeface="Times New Roman" panose="02020603050405020304" pitchFamily="18" charset="0"/>
              </a:rPr>
              <a:t>Database Creation</a:t>
            </a:r>
          </a:p>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ea typeface="Aptos" panose="020B0004020202020204" pitchFamily="34" charset="0"/>
                <a:cs typeface="Times New Roman" panose="02020603050405020304" pitchFamily="18" charset="0"/>
              </a:rPr>
              <a:t>Data Import</a:t>
            </a:r>
          </a:p>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ea typeface="Aptos" panose="020B0004020202020204" pitchFamily="34" charset="0"/>
                <a:cs typeface="Times New Roman" panose="02020603050405020304" pitchFamily="18" charset="0"/>
              </a:rPr>
              <a:t>Audit Trail Maintenance</a:t>
            </a:r>
          </a:p>
          <a:p>
            <a:pPr marL="342900" lvl="0" indent="-342900">
              <a:lnSpc>
                <a:spcPct val="115000"/>
              </a:lnSpc>
              <a:spcAft>
                <a:spcPts val="800"/>
              </a:spcAft>
              <a:buSzPts val="1000"/>
              <a:buFont typeface="Symbol" panose="05050102010706020507" pitchFamily="18" charset="2"/>
              <a:buChar char=""/>
              <a:tabLst>
                <a:tab pos="457200" algn="l"/>
              </a:tabLst>
            </a:pPr>
            <a:r>
              <a:rPr lang="en-GB" b="1" kern="100" dirty="0">
                <a:ea typeface="Aptos" panose="020B0004020202020204" pitchFamily="34" charset="0"/>
                <a:cs typeface="Times New Roman" panose="02020603050405020304" pitchFamily="18" charset="0"/>
              </a:rPr>
              <a:t>Nomenclature consideration</a:t>
            </a:r>
          </a:p>
          <a:p>
            <a:pPr marL="342900" lvl="0" indent="-342900">
              <a:lnSpc>
                <a:spcPct val="115000"/>
              </a:lnSpc>
              <a:spcAft>
                <a:spcPts val="800"/>
              </a:spcAft>
              <a:buSzPts val="1000"/>
              <a:buFont typeface="Symbol" panose="05050102010706020507" pitchFamily="18" charset="2"/>
              <a:buChar char=""/>
              <a:tabLst>
                <a:tab pos="457200" algn="l"/>
              </a:tabLst>
            </a:pPr>
            <a:r>
              <a:rPr lang="en-GB" b="1" kern="100" dirty="0">
                <a:ea typeface="Aptos" panose="020B0004020202020204" pitchFamily="34" charset="0"/>
                <a:cs typeface="Times New Roman" panose="02020603050405020304" pitchFamily="18" charset="0"/>
              </a:rPr>
              <a:t>Efficiency consideration</a:t>
            </a:r>
          </a:p>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ea typeface="Aptos" panose="020B0004020202020204" pitchFamily="34" charset="0"/>
                <a:cs typeface="Times New Roman" panose="02020603050405020304" pitchFamily="18" charset="0"/>
              </a:rPr>
              <a:t>T</a:t>
            </a:r>
            <a:r>
              <a:rPr lang="en-GB" b="1" kern="100" dirty="0">
                <a:ea typeface="Aptos" panose="020B0004020202020204" pitchFamily="34" charset="0"/>
                <a:cs typeface="Times New Roman" panose="02020603050405020304" pitchFamily="18" charset="0"/>
              </a:rPr>
              <a:t>able relationships (PK and FK)</a:t>
            </a:r>
          </a:p>
          <a:p>
            <a:pPr marL="342900" lvl="0" indent="-342900">
              <a:lnSpc>
                <a:spcPct val="115000"/>
              </a:lnSpc>
              <a:spcAft>
                <a:spcPts val="800"/>
              </a:spcAft>
              <a:buSzPts val="1000"/>
              <a:buFont typeface="Symbol" panose="05050102010706020507" pitchFamily="18" charset="2"/>
              <a:buChar char=""/>
              <a:tabLst>
                <a:tab pos="457200" algn="l"/>
              </a:tabLst>
            </a:pPr>
            <a:r>
              <a:rPr lang="en-GB" sz="1800" kern="100" dirty="0">
                <a:effectLst/>
                <a:ea typeface="Aptos" panose="020B0004020202020204" pitchFamily="34" charset="0"/>
                <a:cs typeface="Times New Roman" panose="02020603050405020304" pitchFamily="18" charset="0"/>
              </a:rPr>
              <a:t>Type Optimization</a:t>
            </a:r>
          </a:p>
          <a:p>
            <a:pPr marL="342900" lvl="0" indent="-342900">
              <a:lnSpc>
                <a:spcPct val="115000"/>
              </a:lnSpc>
              <a:spcAft>
                <a:spcPts val="800"/>
              </a:spcAft>
              <a:buSzPts val="1000"/>
              <a:buFont typeface="Symbol" panose="05050102010706020507" pitchFamily="18" charset="2"/>
              <a:buChar char=""/>
              <a:tabLst>
                <a:tab pos="457200" algn="l"/>
              </a:tabLst>
            </a:pPr>
            <a:r>
              <a:rPr lang="en-GB" b="1" dirty="0"/>
              <a:t>Foreign Key Indexing</a:t>
            </a:r>
            <a:endParaRPr lang="en-GB" sz="1800" kern="100" dirty="0">
              <a:effectLst/>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GB" sz="18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77538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564A6-E923-751C-FFB9-E75DE5860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AEB87-BC99-DCA3-129D-DD4E9D30D3AF}"/>
              </a:ext>
            </a:extLst>
          </p:cNvPr>
          <p:cNvSpPr>
            <a:spLocks noGrp="1"/>
          </p:cNvSpPr>
          <p:nvPr>
            <p:ph type="ctrTitle"/>
          </p:nvPr>
        </p:nvSpPr>
        <p:spPr>
          <a:xfrm>
            <a:off x="898358" y="228600"/>
            <a:ext cx="10748210" cy="1070811"/>
          </a:xfrm>
        </p:spPr>
        <p:txBody>
          <a:bodyPr>
            <a:normAutofit/>
          </a:bodyPr>
          <a:lstStyle/>
          <a:p>
            <a:r>
              <a:rPr lang="en-GB" sz="4000" dirty="0"/>
              <a:t>Data Ingestion and Storage </a:t>
            </a:r>
            <a:r>
              <a:rPr lang="en-GB" sz="4000" dirty="0" err="1"/>
              <a:t>Contd</a:t>
            </a:r>
            <a:r>
              <a:rPr lang="en-GB" sz="4000" dirty="0"/>
              <a:t>…</a:t>
            </a:r>
          </a:p>
        </p:txBody>
      </p:sp>
      <p:sp>
        <p:nvSpPr>
          <p:cNvPr id="4" name="Subtitle 4">
            <a:extLst>
              <a:ext uri="{FF2B5EF4-FFF2-40B4-BE49-F238E27FC236}">
                <a16:creationId xmlns:a16="http://schemas.microsoft.com/office/drawing/2014/main" id="{83629EAD-FBA1-5C92-4F93-1F160F9B9819}"/>
              </a:ext>
            </a:extLst>
          </p:cNvPr>
          <p:cNvSpPr txBox="1">
            <a:spLocks/>
          </p:cNvSpPr>
          <p:nvPr/>
        </p:nvSpPr>
        <p:spPr>
          <a:xfrm>
            <a:off x="630936" y="1451811"/>
            <a:ext cx="11082528" cy="1501701"/>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endParaRPr lang="en-GB" sz="1200" dirty="0">
              <a:solidFill>
                <a:schemeClr val="tx1"/>
              </a:solidFill>
            </a:endParaRPr>
          </a:p>
        </p:txBody>
      </p:sp>
      <p:pic>
        <p:nvPicPr>
          <p:cNvPr id="7" name="Picture 6">
            <a:extLst>
              <a:ext uri="{FF2B5EF4-FFF2-40B4-BE49-F238E27FC236}">
                <a16:creationId xmlns:a16="http://schemas.microsoft.com/office/drawing/2014/main" id="{D0D63D52-BB08-812F-A93A-8D7DD46836F8}"/>
              </a:ext>
            </a:extLst>
          </p:cNvPr>
          <p:cNvPicPr>
            <a:picLocks noChangeAspect="1"/>
          </p:cNvPicPr>
          <p:nvPr/>
        </p:nvPicPr>
        <p:blipFill>
          <a:blip r:embed="rId2"/>
          <a:stretch>
            <a:fillRect/>
          </a:stretch>
        </p:blipFill>
        <p:spPr>
          <a:xfrm>
            <a:off x="6364836" y="1489011"/>
            <a:ext cx="2999761" cy="1209844"/>
          </a:xfrm>
          <a:prstGeom prst="rect">
            <a:avLst/>
          </a:prstGeom>
        </p:spPr>
      </p:pic>
      <p:pic>
        <p:nvPicPr>
          <p:cNvPr id="8" name="Picture 7">
            <a:extLst>
              <a:ext uri="{FF2B5EF4-FFF2-40B4-BE49-F238E27FC236}">
                <a16:creationId xmlns:a16="http://schemas.microsoft.com/office/drawing/2014/main" id="{4B628774-6A32-7CAE-8F59-DC224DA07CDF}"/>
              </a:ext>
            </a:extLst>
          </p:cNvPr>
          <p:cNvPicPr>
            <a:picLocks noChangeAspect="1"/>
          </p:cNvPicPr>
          <p:nvPr/>
        </p:nvPicPr>
        <p:blipFill>
          <a:blip r:embed="rId3"/>
          <a:stretch>
            <a:fillRect/>
          </a:stretch>
        </p:blipFill>
        <p:spPr>
          <a:xfrm>
            <a:off x="630936" y="1573049"/>
            <a:ext cx="5611421" cy="4477138"/>
          </a:xfrm>
          <a:prstGeom prst="rect">
            <a:avLst/>
          </a:prstGeom>
        </p:spPr>
      </p:pic>
      <p:pic>
        <p:nvPicPr>
          <p:cNvPr id="10" name="Picture 9">
            <a:extLst>
              <a:ext uri="{FF2B5EF4-FFF2-40B4-BE49-F238E27FC236}">
                <a16:creationId xmlns:a16="http://schemas.microsoft.com/office/drawing/2014/main" id="{21290526-19F7-0976-0826-38E6D4A14BFA}"/>
              </a:ext>
            </a:extLst>
          </p:cNvPr>
          <p:cNvPicPr>
            <a:picLocks noChangeAspect="1"/>
          </p:cNvPicPr>
          <p:nvPr/>
        </p:nvPicPr>
        <p:blipFill>
          <a:blip r:embed="rId4"/>
          <a:stretch>
            <a:fillRect/>
          </a:stretch>
        </p:blipFill>
        <p:spPr>
          <a:xfrm>
            <a:off x="6364836" y="2750017"/>
            <a:ext cx="3961786" cy="1914792"/>
          </a:xfrm>
          <a:prstGeom prst="rect">
            <a:avLst/>
          </a:prstGeom>
        </p:spPr>
      </p:pic>
      <p:pic>
        <p:nvPicPr>
          <p:cNvPr id="12" name="Picture 11">
            <a:extLst>
              <a:ext uri="{FF2B5EF4-FFF2-40B4-BE49-F238E27FC236}">
                <a16:creationId xmlns:a16="http://schemas.microsoft.com/office/drawing/2014/main" id="{94F23F61-5D75-5288-2E90-54AA04DC4C07}"/>
              </a:ext>
            </a:extLst>
          </p:cNvPr>
          <p:cNvPicPr>
            <a:picLocks noChangeAspect="1"/>
          </p:cNvPicPr>
          <p:nvPr/>
        </p:nvPicPr>
        <p:blipFill>
          <a:blip r:embed="rId5"/>
          <a:stretch>
            <a:fillRect/>
          </a:stretch>
        </p:blipFill>
        <p:spPr>
          <a:xfrm>
            <a:off x="6364836" y="4715971"/>
            <a:ext cx="3024417" cy="1708780"/>
          </a:xfrm>
          <a:prstGeom prst="rect">
            <a:avLst/>
          </a:prstGeom>
        </p:spPr>
      </p:pic>
      <p:pic>
        <p:nvPicPr>
          <p:cNvPr id="14" name="Picture 13">
            <a:extLst>
              <a:ext uri="{FF2B5EF4-FFF2-40B4-BE49-F238E27FC236}">
                <a16:creationId xmlns:a16="http://schemas.microsoft.com/office/drawing/2014/main" id="{289A5B27-0A4D-5852-F824-C5894A958EA6}"/>
              </a:ext>
            </a:extLst>
          </p:cNvPr>
          <p:cNvPicPr>
            <a:picLocks noChangeAspect="1"/>
          </p:cNvPicPr>
          <p:nvPr/>
        </p:nvPicPr>
        <p:blipFill>
          <a:blip r:embed="rId6"/>
          <a:stretch>
            <a:fillRect/>
          </a:stretch>
        </p:blipFill>
        <p:spPr>
          <a:xfrm>
            <a:off x="9626469" y="3429000"/>
            <a:ext cx="2333951" cy="3143689"/>
          </a:xfrm>
          <a:prstGeom prst="rect">
            <a:avLst/>
          </a:prstGeom>
        </p:spPr>
      </p:pic>
    </p:spTree>
    <p:extLst>
      <p:ext uri="{BB962C8B-B14F-4D97-AF65-F5344CB8AC3E}">
        <p14:creationId xmlns:p14="http://schemas.microsoft.com/office/powerpoint/2010/main" val="1240713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8EE31-C930-38BD-FC88-EFF717841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6D90C-38ED-2132-F062-19DB6E191FF4}"/>
              </a:ext>
            </a:extLst>
          </p:cNvPr>
          <p:cNvSpPr>
            <a:spLocks noGrp="1"/>
          </p:cNvSpPr>
          <p:nvPr>
            <p:ph type="ctrTitle"/>
          </p:nvPr>
        </p:nvSpPr>
        <p:spPr>
          <a:xfrm>
            <a:off x="898358" y="228600"/>
            <a:ext cx="10748210" cy="1070811"/>
          </a:xfrm>
        </p:spPr>
        <p:txBody>
          <a:bodyPr>
            <a:normAutofit/>
          </a:bodyPr>
          <a:lstStyle/>
          <a:p>
            <a:r>
              <a:rPr lang="en-GB" sz="4000" dirty="0"/>
              <a:t>Data Ingestion and Storage </a:t>
            </a:r>
            <a:r>
              <a:rPr lang="en-GB" sz="4000" dirty="0" err="1"/>
              <a:t>Contd</a:t>
            </a:r>
            <a:r>
              <a:rPr lang="en-GB" sz="4000" dirty="0"/>
              <a:t>…</a:t>
            </a:r>
          </a:p>
        </p:txBody>
      </p:sp>
      <p:sp>
        <p:nvSpPr>
          <p:cNvPr id="4" name="Subtitle 4">
            <a:extLst>
              <a:ext uri="{FF2B5EF4-FFF2-40B4-BE49-F238E27FC236}">
                <a16:creationId xmlns:a16="http://schemas.microsoft.com/office/drawing/2014/main" id="{D7E8CE9D-3644-70D5-86E0-74327BDA7075}"/>
              </a:ext>
            </a:extLst>
          </p:cNvPr>
          <p:cNvSpPr txBox="1">
            <a:spLocks/>
          </p:cNvSpPr>
          <p:nvPr/>
        </p:nvSpPr>
        <p:spPr>
          <a:xfrm>
            <a:off x="630936" y="1451811"/>
            <a:ext cx="11082528" cy="1501701"/>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endParaRPr lang="en-GB" sz="1200" dirty="0">
              <a:solidFill>
                <a:schemeClr val="tx1"/>
              </a:solidFill>
            </a:endParaRPr>
          </a:p>
        </p:txBody>
      </p:sp>
      <p:pic>
        <p:nvPicPr>
          <p:cNvPr id="7" name="Picture 6">
            <a:extLst>
              <a:ext uri="{FF2B5EF4-FFF2-40B4-BE49-F238E27FC236}">
                <a16:creationId xmlns:a16="http://schemas.microsoft.com/office/drawing/2014/main" id="{AF15ED81-85EC-1900-1FE9-6137D83EFF97}"/>
              </a:ext>
            </a:extLst>
          </p:cNvPr>
          <p:cNvPicPr>
            <a:picLocks noChangeAspect="1"/>
          </p:cNvPicPr>
          <p:nvPr/>
        </p:nvPicPr>
        <p:blipFill>
          <a:blip r:embed="rId2"/>
          <a:stretch>
            <a:fillRect/>
          </a:stretch>
        </p:blipFill>
        <p:spPr>
          <a:xfrm>
            <a:off x="7048892" y="3099650"/>
            <a:ext cx="4484175" cy="2676899"/>
          </a:xfrm>
          <a:prstGeom prst="rect">
            <a:avLst/>
          </a:prstGeom>
        </p:spPr>
      </p:pic>
      <p:pic>
        <p:nvPicPr>
          <p:cNvPr id="9" name="Picture 8">
            <a:extLst>
              <a:ext uri="{FF2B5EF4-FFF2-40B4-BE49-F238E27FC236}">
                <a16:creationId xmlns:a16="http://schemas.microsoft.com/office/drawing/2014/main" id="{FEFFEEA7-18EF-2371-4ECA-FB318D41370B}"/>
              </a:ext>
            </a:extLst>
          </p:cNvPr>
          <p:cNvPicPr>
            <a:picLocks noChangeAspect="1"/>
          </p:cNvPicPr>
          <p:nvPr/>
        </p:nvPicPr>
        <p:blipFill>
          <a:blip r:embed="rId3"/>
          <a:stretch>
            <a:fillRect/>
          </a:stretch>
        </p:blipFill>
        <p:spPr>
          <a:xfrm>
            <a:off x="7154977" y="1299411"/>
            <a:ext cx="4491591" cy="1543265"/>
          </a:xfrm>
          <a:prstGeom prst="rect">
            <a:avLst/>
          </a:prstGeom>
        </p:spPr>
      </p:pic>
      <p:pic>
        <p:nvPicPr>
          <p:cNvPr id="8" name="Picture 7">
            <a:extLst>
              <a:ext uri="{FF2B5EF4-FFF2-40B4-BE49-F238E27FC236}">
                <a16:creationId xmlns:a16="http://schemas.microsoft.com/office/drawing/2014/main" id="{938F99A0-F05B-52B1-913A-07F6E03737D0}"/>
              </a:ext>
            </a:extLst>
          </p:cNvPr>
          <p:cNvPicPr>
            <a:picLocks noChangeAspect="1"/>
          </p:cNvPicPr>
          <p:nvPr/>
        </p:nvPicPr>
        <p:blipFill>
          <a:blip r:embed="rId4"/>
          <a:stretch>
            <a:fillRect/>
          </a:stretch>
        </p:blipFill>
        <p:spPr>
          <a:xfrm>
            <a:off x="658933" y="1299411"/>
            <a:ext cx="5999042" cy="4477138"/>
          </a:xfrm>
          <a:prstGeom prst="rect">
            <a:avLst/>
          </a:prstGeom>
        </p:spPr>
      </p:pic>
    </p:spTree>
    <p:extLst>
      <p:ext uri="{BB962C8B-B14F-4D97-AF65-F5344CB8AC3E}">
        <p14:creationId xmlns:p14="http://schemas.microsoft.com/office/powerpoint/2010/main" val="2067985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AA6A8-1A94-64E4-B63C-34EE15443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4DA3F-9AA0-543F-D7C4-99A730407DFE}"/>
              </a:ext>
            </a:extLst>
          </p:cNvPr>
          <p:cNvSpPr>
            <a:spLocks noGrp="1"/>
          </p:cNvSpPr>
          <p:nvPr>
            <p:ph type="ctrTitle"/>
          </p:nvPr>
        </p:nvSpPr>
        <p:spPr>
          <a:xfrm>
            <a:off x="898358" y="228600"/>
            <a:ext cx="10748210" cy="1070811"/>
          </a:xfrm>
        </p:spPr>
        <p:txBody>
          <a:bodyPr>
            <a:normAutofit/>
          </a:bodyPr>
          <a:lstStyle/>
          <a:p>
            <a:r>
              <a:rPr lang="en-GB" sz="4000" dirty="0"/>
              <a:t>Data Ingestion and Storage </a:t>
            </a:r>
            <a:r>
              <a:rPr lang="en-GB" sz="4000" dirty="0" err="1"/>
              <a:t>Contd</a:t>
            </a:r>
            <a:r>
              <a:rPr lang="en-GB" sz="4000" dirty="0"/>
              <a:t>…</a:t>
            </a:r>
          </a:p>
        </p:txBody>
      </p:sp>
      <p:sp>
        <p:nvSpPr>
          <p:cNvPr id="4" name="Subtitle 4">
            <a:extLst>
              <a:ext uri="{FF2B5EF4-FFF2-40B4-BE49-F238E27FC236}">
                <a16:creationId xmlns:a16="http://schemas.microsoft.com/office/drawing/2014/main" id="{4B586471-0AC1-6C99-7F10-985ABE1C36DF}"/>
              </a:ext>
            </a:extLst>
          </p:cNvPr>
          <p:cNvSpPr txBox="1">
            <a:spLocks/>
          </p:cNvSpPr>
          <p:nvPr/>
        </p:nvSpPr>
        <p:spPr>
          <a:xfrm>
            <a:off x="630936" y="1451811"/>
            <a:ext cx="11082528" cy="1501701"/>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endParaRPr lang="en-GB" sz="1200" dirty="0">
              <a:solidFill>
                <a:schemeClr val="tx1"/>
              </a:solidFill>
            </a:endParaRPr>
          </a:p>
        </p:txBody>
      </p:sp>
      <p:sp>
        <p:nvSpPr>
          <p:cNvPr id="9" name="TextBox 8">
            <a:extLst>
              <a:ext uri="{FF2B5EF4-FFF2-40B4-BE49-F238E27FC236}">
                <a16:creationId xmlns:a16="http://schemas.microsoft.com/office/drawing/2014/main" id="{9A7370C5-089B-5E94-7821-99547B320445}"/>
              </a:ext>
            </a:extLst>
          </p:cNvPr>
          <p:cNvSpPr txBox="1"/>
          <p:nvPr/>
        </p:nvSpPr>
        <p:spPr>
          <a:xfrm>
            <a:off x="1435608" y="2202661"/>
            <a:ext cx="6134822" cy="1977144"/>
          </a:xfrm>
          <a:prstGeom prst="rect">
            <a:avLst/>
          </a:prstGeom>
          <a:noFill/>
        </p:spPr>
        <p:txBody>
          <a:bodyPr wrap="square">
            <a:spAutoFit/>
          </a:bodyPr>
          <a:lstStyle/>
          <a:p>
            <a:pPr marL="285750" lvl="0" indent="-285750">
              <a:lnSpc>
                <a:spcPct val="115000"/>
              </a:lnSpc>
              <a:spcAft>
                <a:spcPts val="800"/>
              </a:spcAft>
              <a:buSzPts val="1000"/>
              <a:buFont typeface="Arial" panose="020B0604020202020204" pitchFamily="34" charset="0"/>
              <a:buChar char="•"/>
              <a:tabLst>
                <a:tab pos="457200" algn="l"/>
              </a:tabLst>
            </a:pPr>
            <a:r>
              <a:rPr lang="en-GB" b="1" kern="100" dirty="0">
                <a:ea typeface="Aptos" panose="020B0004020202020204" pitchFamily="34" charset="0"/>
                <a:cs typeface="Times New Roman" panose="02020603050405020304" pitchFamily="18" charset="0"/>
              </a:rPr>
              <a:t>Initial Assessment/ Data Cleaning (Null Values, Standardization)</a:t>
            </a:r>
          </a:p>
          <a:p>
            <a:pPr marL="285750" lvl="0" indent="-285750">
              <a:lnSpc>
                <a:spcPct val="115000"/>
              </a:lnSpc>
              <a:spcAft>
                <a:spcPts val="800"/>
              </a:spcAft>
              <a:buSzPts val="1000"/>
              <a:buFont typeface="Arial" panose="020B0604020202020204" pitchFamily="34" charset="0"/>
              <a:buChar char="•"/>
              <a:tabLst>
                <a:tab pos="457200" algn="l"/>
              </a:tabLst>
            </a:pPr>
            <a:r>
              <a:rPr lang="en-GB" b="1" kern="100" dirty="0">
                <a:ea typeface="Aptos" panose="020B0004020202020204" pitchFamily="34" charset="0"/>
                <a:cs typeface="Times New Roman" panose="02020603050405020304" pitchFamily="18" charset="0"/>
              </a:rPr>
              <a:t>Views Creations</a:t>
            </a:r>
          </a:p>
          <a:p>
            <a:pPr marL="285750" lvl="0" indent="-285750">
              <a:lnSpc>
                <a:spcPct val="115000"/>
              </a:lnSpc>
              <a:spcAft>
                <a:spcPts val="800"/>
              </a:spcAft>
              <a:buSzPts val="1000"/>
              <a:buFont typeface="Arial" panose="020B0604020202020204" pitchFamily="34" charset="0"/>
              <a:buChar char="•"/>
              <a:tabLst>
                <a:tab pos="457200" algn="l"/>
              </a:tabLst>
            </a:pPr>
            <a:r>
              <a:rPr lang="en-GB" b="1" kern="100" dirty="0">
                <a:ea typeface="Aptos" panose="020B0004020202020204" pitchFamily="34" charset="0"/>
                <a:cs typeface="Times New Roman" panose="02020603050405020304" pitchFamily="18" charset="0"/>
              </a:rPr>
              <a:t>Data health verification</a:t>
            </a:r>
          </a:p>
          <a:p>
            <a:pPr marL="342900" lvl="0" indent="-342900">
              <a:lnSpc>
                <a:spcPct val="115000"/>
              </a:lnSpc>
              <a:spcAft>
                <a:spcPts val="800"/>
              </a:spcAft>
              <a:buSzPts val="1000"/>
              <a:buFont typeface="Symbol" panose="05050102010706020507" pitchFamily="18" charset="2"/>
              <a:buChar char=""/>
              <a:tabLst>
                <a:tab pos="457200" algn="l"/>
              </a:tabLst>
            </a:pPr>
            <a:endParaRPr lang="en-GB" sz="1800" b="1"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48453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A59A8-9BD2-A981-F5CB-8B4F2E8953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D1B8B-95BA-31CA-564F-FB7141F15797}"/>
              </a:ext>
            </a:extLst>
          </p:cNvPr>
          <p:cNvSpPr>
            <a:spLocks noGrp="1"/>
          </p:cNvSpPr>
          <p:nvPr>
            <p:ph type="ctrTitle"/>
          </p:nvPr>
        </p:nvSpPr>
        <p:spPr>
          <a:xfrm>
            <a:off x="898358" y="228600"/>
            <a:ext cx="10748210" cy="1070811"/>
          </a:xfrm>
        </p:spPr>
        <p:txBody>
          <a:bodyPr>
            <a:normAutofit/>
          </a:bodyPr>
          <a:lstStyle/>
          <a:p>
            <a:r>
              <a:rPr lang="en-GB" sz="4000" dirty="0"/>
              <a:t>Data Visualization Architecture</a:t>
            </a:r>
          </a:p>
        </p:txBody>
      </p:sp>
      <p:sp>
        <p:nvSpPr>
          <p:cNvPr id="5" name="Subtitle 4">
            <a:extLst>
              <a:ext uri="{FF2B5EF4-FFF2-40B4-BE49-F238E27FC236}">
                <a16:creationId xmlns:a16="http://schemas.microsoft.com/office/drawing/2014/main" id="{0B081C62-7FE6-7A7E-A9BA-3ED8AA537CBB}"/>
              </a:ext>
            </a:extLst>
          </p:cNvPr>
          <p:cNvSpPr>
            <a:spLocks noGrp="1"/>
          </p:cNvSpPr>
          <p:nvPr>
            <p:ph type="subTitle" idx="1"/>
          </p:nvPr>
        </p:nvSpPr>
        <p:spPr>
          <a:xfrm>
            <a:off x="1261872" y="2011680"/>
            <a:ext cx="5047488" cy="2130552"/>
          </a:xfrm>
        </p:spPr>
        <p:txBody>
          <a:bodyPr>
            <a:normAutofit/>
          </a:bodyPr>
          <a:lstStyle/>
          <a:p>
            <a:r>
              <a:rPr lang="en-GB" dirty="0">
                <a:solidFill>
                  <a:schemeClr val="tx1"/>
                </a:solidFill>
              </a:rPr>
              <a:t>Connected MySQL </a:t>
            </a:r>
          </a:p>
          <a:p>
            <a:r>
              <a:rPr lang="en-GB" dirty="0">
                <a:solidFill>
                  <a:schemeClr val="tx1"/>
                </a:solidFill>
              </a:rPr>
              <a:t>Reviewed Data types</a:t>
            </a:r>
          </a:p>
          <a:p>
            <a:r>
              <a:rPr lang="en-GB" dirty="0">
                <a:solidFill>
                  <a:schemeClr val="tx1"/>
                </a:solidFill>
              </a:rPr>
              <a:t>Table Relationships</a:t>
            </a:r>
          </a:p>
          <a:p>
            <a:endParaRPr lang="en-GB" dirty="0">
              <a:solidFill>
                <a:schemeClr val="tx1"/>
              </a:solidFill>
            </a:endParaRPr>
          </a:p>
        </p:txBody>
      </p:sp>
      <p:pic>
        <p:nvPicPr>
          <p:cNvPr id="4" name="Picture 3">
            <a:extLst>
              <a:ext uri="{FF2B5EF4-FFF2-40B4-BE49-F238E27FC236}">
                <a16:creationId xmlns:a16="http://schemas.microsoft.com/office/drawing/2014/main" id="{2ED8E0C0-E0CD-FDD6-3FC6-492DAD7ABB4A}"/>
              </a:ext>
            </a:extLst>
          </p:cNvPr>
          <p:cNvPicPr>
            <a:picLocks noChangeAspect="1"/>
          </p:cNvPicPr>
          <p:nvPr/>
        </p:nvPicPr>
        <p:blipFill>
          <a:blip r:embed="rId2"/>
          <a:stretch>
            <a:fillRect/>
          </a:stretch>
        </p:blipFill>
        <p:spPr>
          <a:xfrm>
            <a:off x="4875378" y="1775989"/>
            <a:ext cx="6155303" cy="3558011"/>
          </a:xfrm>
          <a:prstGeom prst="rect">
            <a:avLst/>
          </a:prstGeom>
        </p:spPr>
      </p:pic>
    </p:spTree>
    <p:extLst>
      <p:ext uri="{BB962C8B-B14F-4D97-AF65-F5344CB8AC3E}">
        <p14:creationId xmlns:p14="http://schemas.microsoft.com/office/powerpoint/2010/main" val="3840581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1B779-FC47-B989-5A11-FF3199993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EB230-B3A8-8665-DD35-0A01E47EF08C}"/>
              </a:ext>
            </a:extLst>
          </p:cNvPr>
          <p:cNvSpPr>
            <a:spLocks noGrp="1"/>
          </p:cNvSpPr>
          <p:nvPr>
            <p:ph type="ctrTitle"/>
          </p:nvPr>
        </p:nvSpPr>
        <p:spPr>
          <a:xfrm>
            <a:off x="898358" y="228600"/>
            <a:ext cx="10748210" cy="1070811"/>
          </a:xfrm>
        </p:spPr>
        <p:txBody>
          <a:bodyPr>
            <a:normAutofit/>
          </a:bodyPr>
          <a:lstStyle/>
          <a:p>
            <a:r>
              <a:rPr lang="en-GB" sz="4000" dirty="0"/>
              <a:t>Insights Generated</a:t>
            </a:r>
          </a:p>
        </p:txBody>
      </p:sp>
      <p:sp>
        <p:nvSpPr>
          <p:cNvPr id="5" name="Subtitle 4">
            <a:extLst>
              <a:ext uri="{FF2B5EF4-FFF2-40B4-BE49-F238E27FC236}">
                <a16:creationId xmlns:a16="http://schemas.microsoft.com/office/drawing/2014/main" id="{AF07D96A-BD94-8E84-9F62-E8EE437998CB}"/>
              </a:ext>
            </a:extLst>
          </p:cNvPr>
          <p:cNvSpPr>
            <a:spLocks noGrp="1"/>
          </p:cNvSpPr>
          <p:nvPr>
            <p:ph type="subTitle" idx="1"/>
          </p:nvPr>
        </p:nvSpPr>
        <p:spPr>
          <a:xfrm>
            <a:off x="1051560" y="1299411"/>
            <a:ext cx="2551176" cy="2605077"/>
          </a:xfrm>
        </p:spPr>
        <p:txBody>
          <a:bodyPr>
            <a:normAutofit/>
          </a:bodyPr>
          <a:lstStyle/>
          <a:p>
            <a:r>
              <a:rPr lang="en-GB" sz="1400" b="1" dirty="0">
                <a:solidFill>
                  <a:schemeClr val="tx1"/>
                </a:solidFill>
              </a:rPr>
              <a:t>Water Usage Patterns</a:t>
            </a:r>
          </a:p>
          <a:p>
            <a:r>
              <a:rPr lang="en-GB" sz="1400" dirty="0">
                <a:solidFill>
                  <a:schemeClr val="tx1"/>
                </a:solidFill>
              </a:rPr>
              <a:t>Groundwater with low salinity and produced water account for the largest share of water used in fracturing operations. This indicates that operators rely heavily on these sources to support hydraulic fracturing activities.</a:t>
            </a:r>
          </a:p>
        </p:txBody>
      </p:sp>
      <p:sp>
        <p:nvSpPr>
          <p:cNvPr id="3" name="Subtitle 4">
            <a:extLst>
              <a:ext uri="{FF2B5EF4-FFF2-40B4-BE49-F238E27FC236}">
                <a16:creationId xmlns:a16="http://schemas.microsoft.com/office/drawing/2014/main" id="{555508C6-DF65-A652-E564-77B59C68531D}"/>
              </a:ext>
            </a:extLst>
          </p:cNvPr>
          <p:cNvSpPr txBox="1">
            <a:spLocks/>
          </p:cNvSpPr>
          <p:nvPr/>
        </p:nvSpPr>
        <p:spPr>
          <a:xfrm>
            <a:off x="4696968" y="1337908"/>
            <a:ext cx="2551176" cy="2714806"/>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GB" sz="1200" b="1" dirty="0">
                <a:solidFill>
                  <a:schemeClr val="tx1"/>
                </a:solidFill>
              </a:rPr>
              <a:t>Chemical Usage Concentration</a:t>
            </a:r>
          </a:p>
          <a:p>
            <a:r>
              <a:rPr lang="en-GB" sz="1200" dirty="0">
                <a:solidFill>
                  <a:schemeClr val="tx1"/>
                </a:solidFill>
              </a:rPr>
              <a:t>A small number of chemicals account for the majority of the total mass of ingredients used in fracturing fluids. Water remains the primary component, followed by additives such as methanol, hydrochloric acid, and sodium chloride, which play key roles in well stimulation and fluid performance.</a:t>
            </a:r>
          </a:p>
        </p:txBody>
      </p:sp>
      <p:sp>
        <p:nvSpPr>
          <p:cNvPr id="4" name="Subtitle 4">
            <a:extLst>
              <a:ext uri="{FF2B5EF4-FFF2-40B4-BE49-F238E27FC236}">
                <a16:creationId xmlns:a16="http://schemas.microsoft.com/office/drawing/2014/main" id="{1DC5CB37-CE7E-47C0-68C5-1AC618030797}"/>
              </a:ext>
            </a:extLst>
          </p:cNvPr>
          <p:cNvSpPr txBox="1">
            <a:spLocks/>
          </p:cNvSpPr>
          <p:nvPr/>
        </p:nvSpPr>
        <p:spPr>
          <a:xfrm>
            <a:off x="8843932" y="1285694"/>
            <a:ext cx="2551176" cy="2632511"/>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GB" sz="1200" b="1" dirty="0">
                <a:solidFill>
                  <a:schemeClr val="tx1"/>
                </a:solidFill>
              </a:rPr>
              <a:t>Geographic Concentration of Activity</a:t>
            </a:r>
          </a:p>
          <a:p>
            <a:r>
              <a:rPr lang="en-GB" sz="1200" dirty="0">
                <a:solidFill>
                  <a:schemeClr val="tx1"/>
                </a:solidFill>
              </a:rPr>
              <a:t>Operational activity is highly concentrated in a few states, with Texas significantly leading in both well activity and resource usage. Other states such as Oklahoma, Colorado, and North Dakota also contribute notable levels of activity but at a much smaller scale.</a:t>
            </a:r>
          </a:p>
        </p:txBody>
      </p:sp>
      <p:sp>
        <p:nvSpPr>
          <p:cNvPr id="6" name="Subtitle 4">
            <a:extLst>
              <a:ext uri="{FF2B5EF4-FFF2-40B4-BE49-F238E27FC236}">
                <a16:creationId xmlns:a16="http://schemas.microsoft.com/office/drawing/2014/main" id="{2183252D-E3E1-7BBE-918D-FCADE9A8987B}"/>
              </a:ext>
            </a:extLst>
          </p:cNvPr>
          <p:cNvSpPr txBox="1">
            <a:spLocks/>
          </p:cNvSpPr>
          <p:nvPr/>
        </p:nvSpPr>
        <p:spPr>
          <a:xfrm>
            <a:off x="7568344" y="4052714"/>
            <a:ext cx="2551176" cy="2632511"/>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GB" sz="1200" b="1" dirty="0">
                <a:solidFill>
                  <a:schemeClr val="tx1"/>
                </a:solidFill>
              </a:rPr>
              <a:t>Operator Dominance</a:t>
            </a:r>
          </a:p>
          <a:p>
            <a:r>
              <a:rPr lang="en-GB" sz="1200" dirty="0">
                <a:solidFill>
                  <a:schemeClr val="tx1"/>
                </a:solidFill>
              </a:rPr>
              <a:t>Fracturing operations are dominated by a relatively small number of operators. Companies such as XTO Energy, Anadarko Petroleum, Pioneer Natural Resources, and Devon Energy account for a large share of wells, water usage, and chemical consumption.</a:t>
            </a:r>
          </a:p>
          <a:p>
            <a:r>
              <a:rPr lang="en-GB" sz="1200" dirty="0">
                <a:solidFill>
                  <a:schemeClr val="tx1"/>
                </a:solidFill>
              </a:rPr>
              <a:t>.</a:t>
            </a:r>
          </a:p>
        </p:txBody>
      </p:sp>
      <p:sp>
        <p:nvSpPr>
          <p:cNvPr id="7" name="Subtitle 4">
            <a:extLst>
              <a:ext uri="{FF2B5EF4-FFF2-40B4-BE49-F238E27FC236}">
                <a16:creationId xmlns:a16="http://schemas.microsoft.com/office/drawing/2014/main" id="{C8883A54-6D54-E3C3-F70A-9CBDD42472B5}"/>
              </a:ext>
            </a:extLst>
          </p:cNvPr>
          <p:cNvSpPr txBox="1">
            <a:spLocks/>
          </p:cNvSpPr>
          <p:nvPr/>
        </p:nvSpPr>
        <p:spPr>
          <a:xfrm>
            <a:off x="2327148" y="4091211"/>
            <a:ext cx="2551176" cy="221445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GB" sz="1200" b="1" dirty="0">
                <a:solidFill>
                  <a:schemeClr val="tx1"/>
                </a:solidFill>
              </a:rPr>
              <a:t>Well Performance and Depth Variation</a:t>
            </a:r>
          </a:p>
          <a:p>
            <a:r>
              <a:rPr lang="en-GB" sz="1200" dirty="0">
                <a:solidFill>
                  <a:schemeClr val="tx1"/>
                </a:solidFill>
              </a:rPr>
              <a:t>Certain wells consistently show higher performance levels and deeper vertical depths compared to others. This may reflect differences in geological conditions, operational strategies, or drilling technologies.</a:t>
            </a:r>
          </a:p>
        </p:txBody>
      </p:sp>
    </p:spTree>
    <p:extLst>
      <p:ext uri="{BB962C8B-B14F-4D97-AF65-F5344CB8AC3E}">
        <p14:creationId xmlns:p14="http://schemas.microsoft.com/office/powerpoint/2010/main" val="1851570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6474A-EF94-07E1-A831-7C595725F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C8923-05B2-80C6-8D45-787C443AE1E3}"/>
              </a:ext>
            </a:extLst>
          </p:cNvPr>
          <p:cNvSpPr>
            <a:spLocks noGrp="1"/>
          </p:cNvSpPr>
          <p:nvPr>
            <p:ph type="ctrTitle"/>
          </p:nvPr>
        </p:nvSpPr>
        <p:spPr>
          <a:xfrm>
            <a:off x="898358" y="228600"/>
            <a:ext cx="10748210" cy="1070811"/>
          </a:xfrm>
        </p:spPr>
        <p:txBody>
          <a:bodyPr>
            <a:normAutofit/>
          </a:bodyPr>
          <a:lstStyle/>
          <a:p>
            <a:r>
              <a:rPr lang="en-GB" sz="4000" dirty="0"/>
              <a:t>Business Recommendations</a:t>
            </a:r>
          </a:p>
        </p:txBody>
      </p:sp>
      <p:sp>
        <p:nvSpPr>
          <p:cNvPr id="5" name="Subtitle 4">
            <a:extLst>
              <a:ext uri="{FF2B5EF4-FFF2-40B4-BE49-F238E27FC236}">
                <a16:creationId xmlns:a16="http://schemas.microsoft.com/office/drawing/2014/main" id="{B206CDE3-F9DB-70D7-D8AF-02CD2DE6AD22}"/>
              </a:ext>
            </a:extLst>
          </p:cNvPr>
          <p:cNvSpPr>
            <a:spLocks noGrp="1"/>
          </p:cNvSpPr>
          <p:nvPr>
            <p:ph type="subTitle" idx="1"/>
          </p:nvPr>
        </p:nvSpPr>
        <p:spPr>
          <a:xfrm>
            <a:off x="1207008" y="1528011"/>
            <a:ext cx="2569464" cy="1900989"/>
          </a:xfrm>
        </p:spPr>
        <p:txBody>
          <a:bodyPr>
            <a:noAutofit/>
          </a:bodyPr>
          <a:lstStyle/>
          <a:p>
            <a:r>
              <a:rPr lang="en-GB" sz="1100" b="1" dirty="0">
                <a:solidFill>
                  <a:schemeClr val="tx1"/>
                </a:solidFill>
              </a:rPr>
              <a:t>Operational Benchmarking</a:t>
            </a:r>
          </a:p>
          <a:p>
            <a:r>
              <a:rPr lang="en-GB" sz="1100" dirty="0">
                <a:solidFill>
                  <a:schemeClr val="tx1"/>
                </a:solidFill>
              </a:rPr>
              <a:t>High-performing wells and operators can be </a:t>
            </a:r>
            <a:r>
              <a:rPr lang="en-GB" sz="1100" dirty="0" err="1">
                <a:solidFill>
                  <a:schemeClr val="tx1"/>
                </a:solidFill>
              </a:rPr>
              <a:t>analyzed</a:t>
            </a:r>
            <a:r>
              <a:rPr lang="en-GB" sz="1100" dirty="0">
                <a:solidFill>
                  <a:schemeClr val="tx1"/>
                </a:solidFill>
              </a:rPr>
              <a:t> further to identify operational practices that contribute to stronger performance. These practices could potentially be replicated across other wells.</a:t>
            </a:r>
          </a:p>
        </p:txBody>
      </p:sp>
      <p:sp>
        <p:nvSpPr>
          <p:cNvPr id="3" name="Subtitle 4">
            <a:extLst>
              <a:ext uri="{FF2B5EF4-FFF2-40B4-BE49-F238E27FC236}">
                <a16:creationId xmlns:a16="http://schemas.microsoft.com/office/drawing/2014/main" id="{23EF73EF-8FB8-ED7A-8738-9E3E629472A1}"/>
              </a:ext>
            </a:extLst>
          </p:cNvPr>
          <p:cNvSpPr txBox="1">
            <a:spLocks/>
          </p:cNvSpPr>
          <p:nvPr/>
        </p:nvSpPr>
        <p:spPr>
          <a:xfrm>
            <a:off x="6318505" y="1485339"/>
            <a:ext cx="3483542" cy="2278941"/>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GB" sz="1100" b="1" dirty="0">
                <a:solidFill>
                  <a:schemeClr val="tx1"/>
                </a:solidFill>
              </a:rPr>
              <a:t>Regional Resource Planning</a:t>
            </a:r>
          </a:p>
          <a:p>
            <a:r>
              <a:rPr lang="en-GB" sz="1100" dirty="0">
                <a:solidFill>
                  <a:schemeClr val="tx1"/>
                </a:solidFill>
              </a:rPr>
              <a:t>Since fracturing activity is concentrated in specific states, resource planning and infrastructure development should prioritize regions with the highest operational intensity.</a:t>
            </a:r>
          </a:p>
        </p:txBody>
      </p:sp>
      <p:sp>
        <p:nvSpPr>
          <p:cNvPr id="4" name="Subtitle 4">
            <a:extLst>
              <a:ext uri="{FF2B5EF4-FFF2-40B4-BE49-F238E27FC236}">
                <a16:creationId xmlns:a16="http://schemas.microsoft.com/office/drawing/2014/main" id="{BB3E3C31-E138-BE86-6850-2BE90DA6E46C}"/>
              </a:ext>
            </a:extLst>
          </p:cNvPr>
          <p:cNvSpPr txBox="1">
            <a:spLocks/>
          </p:cNvSpPr>
          <p:nvPr/>
        </p:nvSpPr>
        <p:spPr>
          <a:xfrm>
            <a:off x="1207008" y="3858768"/>
            <a:ext cx="3236976" cy="2093976"/>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GB" sz="1100" b="1" dirty="0">
                <a:solidFill>
                  <a:schemeClr val="tx1"/>
                </a:solidFill>
              </a:rPr>
              <a:t>Chemical Usage Monitoring</a:t>
            </a:r>
          </a:p>
          <a:p>
            <a:r>
              <a:rPr lang="en-GB" sz="1100" dirty="0">
                <a:solidFill>
                  <a:schemeClr val="tx1"/>
                </a:solidFill>
              </a:rPr>
              <a:t>Monitoring the use of key chemical additives can help improve transparency in fracturing operations and support environmental compliance.</a:t>
            </a:r>
          </a:p>
        </p:txBody>
      </p:sp>
      <p:sp>
        <p:nvSpPr>
          <p:cNvPr id="6" name="Subtitle 4">
            <a:extLst>
              <a:ext uri="{FF2B5EF4-FFF2-40B4-BE49-F238E27FC236}">
                <a16:creationId xmlns:a16="http://schemas.microsoft.com/office/drawing/2014/main" id="{26BDE303-149B-D0CE-1818-34D4178C58C7}"/>
              </a:ext>
            </a:extLst>
          </p:cNvPr>
          <p:cNvSpPr txBox="1">
            <a:spLocks/>
          </p:cNvSpPr>
          <p:nvPr/>
        </p:nvSpPr>
        <p:spPr>
          <a:xfrm>
            <a:off x="6476680" y="3870960"/>
            <a:ext cx="3167193" cy="2093976"/>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GB" sz="1100" b="1" dirty="0">
                <a:solidFill>
                  <a:schemeClr val="tx1"/>
                </a:solidFill>
              </a:rPr>
              <a:t>Operator Performance Benchmarking</a:t>
            </a:r>
          </a:p>
          <a:p>
            <a:r>
              <a:rPr lang="en-GB" sz="1100" dirty="0">
                <a:solidFill>
                  <a:schemeClr val="tx1"/>
                </a:solidFill>
              </a:rPr>
              <a:t>Comparing operational metrics across major operators can reveal differences in efficiency, resource usage, and operational strategies. These insights can help identify industry best practices.</a:t>
            </a:r>
          </a:p>
        </p:txBody>
      </p:sp>
    </p:spTree>
    <p:extLst>
      <p:ext uri="{BB962C8B-B14F-4D97-AF65-F5344CB8AC3E}">
        <p14:creationId xmlns:p14="http://schemas.microsoft.com/office/powerpoint/2010/main" val="4070863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F77B7-821C-6E8A-52D8-663E42BBC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8F9E5-A518-EDFC-936E-885172FA41EF}"/>
              </a:ext>
            </a:extLst>
          </p:cNvPr>
          <p:cNvSpPr>
            <a:spLocks noGrp="1"/>
          </p:cNvSpPr>
          <p:nvPr>
            <p:ph type="ctrTitle"/>
          </p:nvPr>
        </p:nvSpPr>
        <p:spPr>
          <a:xfrm>
            <a:off x="898358" y="228600"/>
            <a:ext cx="10748210" cy="1581912"/>
          </a:xfrm>
        </p:spPr>
        <p:txBody>
          <a:bodyPr>
            <a:normAutofit/>
          </a:bodyPr>
          <a:lstStyle/>
          <a:p>
            <a:r>
              <a:rPr lang="en-GB" sz="4000" dirty="0"/>
              <a:t>Automation and Scalability Considerations</a:t>
            </a:r>
          </a:p>
        </p:txBody>
      </p:sp>
      <p:sp>
        <p:nvSpPr>
          <p:cNvPr id="5" name="Subtitle 4">
            <a:extLst>
              <a:ext uri="{FF2B5EF4-FFF2-40B4-BE49-F238E27FC236}">
                <a16:creationId xmlns:a16="http://schemas.microsoft.com/office/drawing/2014/main" id="{F8ACB3E9-A904-04F0-A819-0C057DD03C7A}"/>
              </a:ext>
            </a:extLst>
          </p:cNvPr>
          <p:cNvSpPr>
            <a:spLocks noGrp="1"/>
          </p:cNvSpPr>
          <p:nvPr>
            <p:ph type="subTitle" idx="1"/>
          </p:nvPr>
        </p:nvSpPr>
        <p:spPr>
          <a:xfrm>
            <a:off x="1234440" y="2157985"/>
            <a:ext cx="9418320" cy="3410712"/>
          </a:xfrm>
        </p:spPr>
        <p:txBody>
          <a:bodyPr>
            <a:normAutofit lnSpcReduction="10000"/>
          </a:bodyPr>
          <a:lstStyle/>
          <a:p>
            <a:r>
              <a:rPr lang="en-GB" sz="1800" dirty="0">
                <a:solidFill>
                  <a:schemeClr val="tx1"/>
                </a:solidFill>
              </a:rPr>
              <a:t>To support ongoing analysis and future expansion:</a:t>
            </a:r>
          </a:p>
          <a:p>
            <a:pPr marL="285750" indent="-285750">
              <a:buFont typeface="Arial" panose="020B0604020202020204" pitchFamily="34" charset="0"/>
              <a:buChar char="•"/>
            </a:pPr>
            <a:r>
              <a:rPr lang="en-GB" sz="1800" dirty="0">
                <a:solidFill>
                  <a:schemeClr val="tx1"/>
                </a:solidFill>
              </a:rPr>
              <a:t>Data pipelines could be automated using scheduled database updates </a:t>
            </a:r>
          </a:p>
          <a:p>
            <a:endParaRPr lang="en-GB" sz="1800" dirty="0">
              <a:solidFill>
                <a:schemeClr val="tx1"/>
              </a:solidFill>
            </a:endParaRPr>
          </a:p>
          <a:p>
            <a:pPr marL="285750" indent="-285750">
              <a:buFont typeface="Arial" panose="020B0604020202020204" pitchFamily="34" charset="0"/>
              <a:buChar char="•"/>
            </a:pPr>
            <a:r>
              <a:rPr lang="en-GB" sz="1800" dirty="0">
                <a:solidFill>
                  <a:schemeClr val="tx1"/>
                </a:solidFill>
              </a:rPr>
              <a:t>Power BI datasets can be configured with scheduled refresh</a:t>
            </a:r>
          </a:p>
          <a:p>
            <a:endParaRPr lang="en-GB" sz="1800" dirty="0">
              <a:solidFill>
                <a:schemeClr val="tx1"/>
              </a:solidFill>
            </a:endParaRPr>
          </a:p>
          <a:p>
            <a:pPr marL="285750" indent="-285750">
              <a:buFont typeface="Arial" panose="020B0604020202020204" pitchFamily="34" charset="0"/>
              <a:buChar char="•"/>
            </a:pPr>
            <a:r>
              <a:rPr lang="en-GB" sz="1800" dirty="0">
                <a:solidFill>
                  <a:schemeClr val="tx1"/>
                </a:solidFill>
              </a:rPr>
              <a:t>Additional datasets (production data, environmental metrics) could be integrated</a:t>
            </a:r>
          </a:p>
          <a:p>
            <a:endParaRPr lang="en-GB" sz="1800" dirty="0">
              <a:solidFill>
                <a:schemeClr val="tx1"/>
              </a:solidFill>
            </a:endParaRPr>
          </a:p>
          <a:p>
            <a:pPr marL="285750" indent="-285750">
              <a:buFont typeface="Arial" panose="020B0604020202020204" pitchFamily="34" charset="0"/>
              <a:buChar char="•"/>
            </a:pPr>
            <a:r>
              <a:rPr lang="en-GB" sz="1800" dirty="0">
                <a:solidFill>
                  <a:schemeClr val="tx1"/>
                </a:solidFill>
              </a:rPr>
              <a:t>Cloud storage solutions could support larger datasets</a:t>
            </a:r>
          </a:p>
        </p:txBody>
      </p:sp>
    </p:spTree>
    <p:extLst>
      <p:ext uri="{BB962C8B-B14F-4D97-AF65-F5344CB8AC3E}">
        <p14:creationId xmlns:p14="http://schemas.microsoft.com/office/powerpoint/2010/main" val="110781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73825-38B0-80AC-1C55-ACB8FD456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B007B-EFA1-F8DC-FA8C-253C14A1DD2D}"/>
              </a:ext>
            </a:extLst>
          </p:cNvPr>
          <p:cNvSpPr>
            <a:spLocks noGrp="1"/>
          </p:cNvSpPr>
          <p:nvPr>
            <p:ph type="ctrTitle"/>
          </p:nvPr>
        </p:nvSpPr>
        <p:spPr>
          <a:xfrm>
            <a:off x="898358" y="228600"/>
            <a:ext cx="10748210" cy="1070811"/>
          </a:xfrm>
        </p:spPr>
        <p:txBody>
          <a:bodyPr>
            <a:normAutofit/>
          </a:bodyPr>
          <a:lstStyle/>
          <a:p>
            <a:r>
              <a:rPr lang="en-GB" sz="4000" dirty="0"/>
              <a:t>Challenges and Troubleshooting</a:t>
            </a:r>
          </a:p>
        </p:txBody>
      </p:sp>
      <p:sp>
        <p:nvSpPr>
          <p:cNvPr id="5" name="Subtitle 4">
            <a:extLst>
              <a:ext uri="{FF2B5EF4-FFF2-40B4-BE49-F238E27FC236}">
                <a16:creationId xmlns:a16="http://schemas.microsoft.com/office/drawing/2014/main" id="{4908DC80-8097-2C7D-1CCD-6CA61A455142}"/>
              </a:ext>
            </a:extLst>
          </p:cNvPr>
          <p:cNvSpPr>
            <a:spLocks noGrp="1"/>
          </p:cNvSpPr>
          <p:nvPr>
            <p:ph type="subTitle" idx="1"/>
          </p:nvPr>
        </p:nvSpPr>
        <p:spPr>
          <a:xfrm>
            <a:off x="1197864" y="1728697"/>
            <a:ext cx="9418320" cy="3400605"/>
          </a:xfrm>
        </p:spPr>
        <p:txBody>
          <a:bodyPr>
            <a:normAutofit/>
          </a:bodyPr>
          <a:lstStyle/>
          <a:p>
            <a:r>
              <a:rPr lang="en-GB" sz="1800" dirty="0">
                <a:solidFill>
                  <a:schemeClr val="tx1"/>
                </a:solidFill>
              </a:rPr>
              <a:t>Several challenges were encountered during the project.</a:t>
            </a:r>
          </a:p>
          <a:p>
            <a:pPr marL="285750" indent="-285750">
              <a:buFont typeface="Arial" panose="020B0604020202020204" pitchFamily="34" charset="0"/>
              <a:buChar char="•"/>
            </a:pPr>
            <a:r>
              <a:rPr lang="en-GB" sz="1800" b="1" dirty="0">
                <a:solidFill>
                  <a:schemeClr val="tx1"/>
                </a:solidFill>
              </a:rPr>
              <a:t>Large Dataset Size</a:t>
            </a:r>
          </a:p>
          <a:p>
            <a:pPr marL="285750" indent="-285750">
              <a:buFont typeface="Arial" panose="020B0604020202020204" pitchFamily="34" charset="0"/>
              <a:buChar char="•"/>
            </a:pPr>
            <a:r>
              <a:rPr lang="en-GB" sz="1800" b="1" dirty="0">
                <a:solidFill>
                  <a:schemeClr val="tx1"/>
                </a:solidFill>
              </a:rPr>
              <a:t>Data Type Inconsistencies</a:t>
            </a:r>
          </a:p>
          <a:p>
            <a:pPr marL="285750" indent="-285750">
              <a:buFont typeface="Arial" panose="020B0604020202020204" pitchFamily="34" charset="0"/>
              <a:buChar char="•"/>
            </a:pPr>
            <a:r>
              <a:rPr lang="en-GB" sz="1800" b="1" dirty="0">
                <a:solidFill>
                  <a:schemeClr val="tx1"/>
                </a:solidFill>
              </a:rPr>
              <a:t>Aggregation Errors</a:t>
            </a:r>
          </a:p>
          <a:p>
            <a:endParaRPr lang="en-GB" sz="1800" dirty="0">
              <a:solidFill>
                <a:schemeClr val="tx1"/>
              </a:solidFill>
            </a:endParaRPr>
          </a:p>
        </p:txBody>
      </p:sp>
    </p:spTree>
    <p:extLst>
      <p:ext uri="{BB962C8B-B14F-4D97-AF65-F5344CB8AC3E}">
        <p14:creationId xmlns:p14="http://schemas.microsoft.com/office/powerpoint/2010/main" val="2642535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54B9B-AACB-3604-D12C-00E449D95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A3038-3496-6285-EAB3-27C9143A3835}"/>
              </a:ext>
            </a:extLst>
          </p:cNvPr>
          <p:cNvSpPr>
            <a:spLocks noGrp="1"/>
          </p:cNvSpPr>
          <p:nvPr>
            <p:ph type="ctrTitle"/>
          </p:nvPr>
        </p:nvSpPr>
        <p:spPr>
          <a:xfrm>
            <a:off x="834350" y="2893594"/>
            <a:ext cx="10748210" cy="1070811"/>
          </a:xfrm>
        </p:spPr>
        <p:txBody>
          <a:bodyPr>
            <a:normAutofit/>
          </a:bodyPr>
          <a:lstStyle/>
          <a:p>
            <a:r>
              <a:rPr lang="en-GB" sz="4000" dirty="0"/>
              <a:t>Thank You</a:t>
            </a:r>
          </a:p>
        </p:txBody>
      </p:sp>
    </p:spTree>
    <p:extLst>
      <p:ext uri="{BB962C8B-B14F-4D97-AF65-F5344CB8AC3E}">
        <p14:creationId xmlns:p14="http://schemas.microsoft.com/office/powerpoint/2010/main" val="388769208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487</TotalTime>
  <Words>844</Words>
  <Application>Microsoft Office PowerPoint</Application>
  <PresentationFormat>Widescreen</PresentationFormat>
  <Paragraphs>124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Century Schoolbook</vt:lpstr>
      <vt:lpstr>Symbol</vt:lpstr>
      <vt:lpstr>Wingdings 2</vt:lpstr>
      <vt:lpstr>View</vt:lpstr>
      <vt:lpstr>FracFocus Well &amp; Chemical Usage Analysis</vt:lpstr>
      <vt:lpstr>Project Overview</vt:lpstr>
      <vt:lpstr>Business Problem</vt:lpstr>
      <vt:lpstr>Key Business Questions</vt:lpstr>
      <vt:lpstr>Assumptions</vt:lpstr>
      <vt:lpstr>PowerPoint Presentation</vt:lpstr>
      <vt:lpstr>Data Ingestion and Storage</vt:lpstr>
      <vt:lpstr>Data Ingestion and Storage Contd…</vt:lpstr>
      <vt:lpstr>Data Ingestion and Storage Contd…</vt:lpstr>
      <vt:lpstr>Data Ingestion and Storage Contd…</vt:lpstr>
      <vt:lpstr>Data Ingestion and Storage Contd…</vt:lpstr>
      <vt:lpstr>Data Visualization Architecture</vt:lpstr>
      <vt:lpstr>Insights Generated</vt:lpstr>
      <vt:lpstr>Business Recommendations</vt:lpstr>
      <vt:lpstr>Automation and Scalability Considerations</vt:lpstr>
      <vt:lpstr>Challenges and Troubleshooting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Pamela Odurukwe</dc:creator>
  <cp:lastModifiedBy>Pamela Odurukwe</cp:lastModifiedBy>
  <cp:revision>1</cp:revision>
  <dcterms:created xsi:type="dcterms:W3CDTF">2026-03-05T22:36:28Z</dcterms:created>
  <dcterms:modified xsi:type="dcterms:W3CDTF">2026-03-06T16:58:00Z</dcterms:modified>
</cp:coreProperties>
</file>